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</p:sldIdLst>
  <p:sldSz cx="18288000" cy="10287000"/>
  <p:notesSz cx="6858000" cy="9144000"/>
  <p:embeddedFontLst>
    <p:embeddedFont>
      <p:font typeface="Forum" panose="020B0604020202020204" charset="0"/>
      <p:regular r:id="rId27"/>
    </p:embeddedFont>
    <p:embeddedFont>
      <p:font typeface="TT Drugs" panose="020B0604020202020204" charset="0"/>
      <p:regular r:id="rId28"/>
    </p:embeddedFont>
    <p:embeddedFont>
      <p:font typeface="TT Drugs Bold" panose="020B0604020202020204" charset="0"/>
      <p:regular r:id="rId29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45" d="100"/>
          <a:sy n="45" d="100"/>
        </p:scale>
        <p:origin x="20" y="-95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3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font" Target="fonts/font2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font" Target="fonts/font1.fntdata"/><Relationship Id="rId30" Type="http://schemas.openxmlformats.org/officeDocument/2006/relationships/presProps" Target="presProps.xml"/><Relationship Id="rId8" Type="http://schemas.openxmlformats.org/officeDocument/2006/relationships/slide" Target="slides/slide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10/6/2026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8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3.jpe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4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5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D769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8687688">
            <a:off x="10282257" y="5034286"/>
            <a:ext cx="8922358" cy="9404330"/>
          </a:xfrm>
          <a:custGeom>
            <a:avLst/>
            <a:gdLst/>
            <a:ahLst/>
            <a:cxnLst/>
            <a:rect l="l" t="t" r="r" b="b"/>
            <a:pathLst>
              <a:path w="8922358" h="9404330">
                <a:moveTo>
                  <a:pt x="0" y="0"/>
                </a:moveTo>
                <a:lnTo>
                  <a:pt x="8922358" y="0"/>
                </a:lnTo>
                <a:lnTo>
                  <a:pt x="8922358" y="9404330"/>
                </a:lnTo>
                <a:lnTo>
                  <a:pt x="0" y="940433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Freeform 3"/>
          <p:cNvSpPr/>
          <p:nvPr/>
        </p:nvSpPr>
        <p:spPr>
          <a:xfrm rot="-10013544">
            <a:off x="-1834628" y="-2396987"/>
            <a:ext cx="8825308" cy="8229600"/>
          </a:xfrm>
          <a:custGeom>
            <a:avLst/>
            <a:gdLst/>
            <a:ahLst/>
            <a:cxnLst/>
            <a:rect l="l" t="t" r="r" b="b"/>
            <a:pathLst>
              <a:path w="8825308" h="8229600">
                <a:moveTo>
                  <a:pt x="0" y="0"/>
                </a:moveTo>
                <a:lnTo>
                  <a:pt x="8825308" y="0"/>
                </a:lnTo>
                <a:lnTo>
                  <a:pt x="8825308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TextBox 4"/>
          <p:cNvSpPr txBox="1"/>
          <p:nvPr/>
        </p:nvSpPr>
        <p:spPr>
          <a:xfrm>
            <a:off x="2319224" y="3408174"/>
            <a:ext cx="13649552" cy="148638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1374"/>
              </a:lnSpc>
            </a:pPr>
            <a:r>
              <a:rPr lang="en-US" sz="10340">
                <a:solidFill>
                  <a:srgbClr val="FFFFFF"/>
                </a:solidFill>
                <a:latin typeface="Forum"/>
                <a:ea typeface="Forum"/>
                <a:cs typeface="Forum"/>
                <a:sym typeface="Forum"/>
              </a:rPr>
              <a:t>SPAM DETECTOR MODEL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6507677" y="6893908"/>
            <a:ext cx="4936403" cy="4552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779"/>
              </a:lnSpc>
            </a:pPr>
            <a:r>
              <a:rPr lang="en-US" sz="2699" b="1">
                <a:solidFill>
                  <a:srgbClr val="FFFFFF"/>
                </a:solidFill>
                <a:latin typeface="TT Drugs Bold"/>
                <a:ea typeface="TT Drugs Bold"/>
                <a:cs typeface="TT Drugs Bold"/>
                <a:sym typeface="TT Drugs Bold"/>
              </a:rPr>
              <a:t>main.cppdeanza@gmail.com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4844704" y="5530170"/>
            <a:ext cx="8598591" cy="7632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80"/>
              </a:lnSpc>
            </a:pPr>
            <a:r>
              <a:rPr lang="en-US" sz="2200" spc="66">
                <a:solidFill>
                  <a:srgbClr val="FFFFFF"/>
                </a:solidFill>
                <a:latin typeface="TT Drugs"/>
                <a:ea typeface="TT Drugs"/>
                <a:cs typeface="TT Drugs"/>
                <a:sym typeface="TT Drugs"/>
              </a:rPr>
              <a:t>PRESENTED BY: PHONG NGUYEN, CHAEWON PARK, </a:t>
            </a:r>
          </a:p>
          <a:p>
            <a:pPr algn="ctr">
              <a:lnSpc>
                <a:spcPts val="3080"/>
              </a:lnSpc>
            </a:pPr>
            <a:r>
              <a:rPr lang="en-US" sz="2200" spc="66">
                <a:solidFill>
                  <a:srgbClr val="FFFFFF"/>
                </a:solidFill>
                <a:latin typeface="TT Drugs"/>
                <a:ea typeface="TT Drugs"/>
                <a:cs typeface="TT Drugs"/>
                <a:sym typeface="TT Drugs"/>
              </a:rPr>
              <a:t>NICHELLE ANTONY, ESTHER KIM, TRISTAN RODRIGUEZ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6585866" y="2570208"/>
            <a:ext cx="5116268" cy="4552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779"/>
              </a:lnSpc>
            </a:pPr>
            <a:r>
              <a:rPr lang="en-US" sz="2699" b="1">
                <a:solidFill>
                  <a:srgbClr val="FFFFFF"/>
                </a:solidFill>
                <a:latin typeface="TT Drugs Bold"/>
                <a:ea typeface="TT Drugs Bold"/>
                <a:cs typeface="TT Drugs Bold"/>
                <a:sym typeface="TT Drugs Bold"/>
              </a:rPr>
              <a:t>Main.Cpp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50">
        <p:fade/>
      </p:transition>
    </mc:Choice>
    <mc:Fallback>
      <p:transition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BDCD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2483111">
            <a:off x="15183806" y="4858923"/>
            <a:ext cx="8681321" cy="7802337"/>
          </a:xfrm>
          <a:custGeom>
            <a:avLst/>
            <a:gdLst/>
            <a:ahLst/>
            <a:cxnLst/>
            <a:rect l="l" t="t" r="r" b="b"/>
            <a:pathLst>
              <a:path w="8681321" h="7802337">
                <a:moveTo>
                  <a:pt x="0" y="0"/>
                </a:moveTo>
                <a:lnTo>
                  <a:pt x="8681321" y="0"/>
                </a:lnTo>
                <a:lnTo>
                  <a:pt x="8681321" y="7802337"/>
                </a:lnTo>
                <a:lnTo>
                  <a:pt x="0" y="780233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Freeform 3"/>
          <p:cNvSpPr/>
          <p:nvPr/>
        </p:nvSpPr>
        <p:spPr>
          <a:xfrm>
            <a:off x="10259281" y="6010480"/>
            <a:ext cx="7288216" cy="7315650"/>
          </a:xfrm>
          <a:custGeom>
            <a:avLst/>
            <a:gdLst/>
            <a:ahLst/>
            <a:cxnLst/>
            <a:rect l="l" t="t" r="r" b="b"/>
            <a:pathLst>
              <a:path w="7288216" h="7315650">
                <a:moveTo>
                  <a:pt x="0" y="0"/>
                </a:moveTo>
                <a:lnTo>
                  <a:pt x="7288216" y="0"/>
                </a:lnTo>
                <a:lnTo>
                  <a:pt x="7288216" y="7315650"/>
                </a:lnTo>
                <a:lnTo>
                  <a:pt x="0" y="731565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TextBox 4"/>
          <p:cNvSpPr txBox="1"/>
          <p:nvPr/>
        </p:nvSpPr>
        <p:spPr>
          <a:xfrm>
            <a:off x="1028700" y="1044803"/>
            <a:ext cx="12388794" cy="171461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720"/>
              </a:lnSpc>
            </a:pPr>
            <a:r>
              <a:rPr lang="en-US" sz="5600">
                <a:solidFill>
                  <a:srgbClr val="0F2A37"/>
                </a:solidFill>
                <a:latin typeface="Forum"/>
                <a:ea typeface="Forum"/>
                <a:cs typeface="Forum"/>
                <a:sym typeface="Forum"/>
              </a:rPr>
              <a:t>SPAM &amp; HAM:  What are they?</a:t>
            </a:r>
          </a:p>
          <a:p>
            <a:pPr algn="l">
              <a:lnSpc>
                <a:spcPts val="6720"/>
              </a:lnSpc>
            </a:pPr>
            <a:endParaRPr lang="en-US" sz="5600">
              <a:solidFill>
                <a:srgbClr val="0F2A37"/>
              </a:solidFill>
              <a:latin typeface="Forum"/>
              <a:ea typeface="Forum"/>
              <a:cs typeface="Forum"/>
              <a:sym typeface="Forum"/>
            </a:endParaRPr>
          </a:p>
        </p:txBody>
      </p:sp>
      <p:sp>
        <p:nvSpPr>
          <p:cNvPr id="5" name="TextBox 5"/>
          <p:cNvSpPr txBox="1"/>
          <p:nvPr/>
        </p:nvSpPr>
        <p:spPr>
          <a:xfrm>
            <a:off x="1028700" y="2990859"/>
            <a:ext cx="15422211" cy="216326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719"/>
              </a:lnSpc>
            </a:pPr>
            <a:r>
              <a:rPr lang="en-US" sz="4399">
                <a:solidFill>
                  <a:srgbClr val="0F2A37"/>
                </a:solidFill>
                <a:latin typeface="TT Drugs"/>
                <a:ea typeface="TT Drugs"/>
                <a:cs typeface="TT Drugs"/>
                <a:sym typeface="TT Drugs"/>
              </a:rPr>
              <a:t>CONGRATULATION Main.Cpp member! You just won a 1000$ reward! REPLY NOW before your offer EXPIRES!</a:t>
            </a:r>
          </a:p>
          <a:p>
            <a:pPr algn="l">
              <a:lnSpc>
                <a:spcPts val="5719"/>
              </a:lnSpc>
            </a:pPr>
            <a:endParaRPr lang="en-US" sz="4399">
              <a:solidFill>
                <a:srgbClr val="0F2A37"/>
              </a:solidFill>
              <a:latin typeface="TT Drugs"/>
              <a:ea typeface="TT Drugs"/>
              <a:cs typeface="TT Drugs"/>
              <a:sym typeface="TT Drug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50">
        <p:fade/>
      </p:transition>
    </mc:Choice>
    <mc:Fallback>
      <p:transition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BDCD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2483111">
            <a:off x="15183806" y="4858923"/>
            <a:ext cx="8681321" cy="7802337"/>
          </a:xfrm>
          <a:custGeom>
            <a:avLst/>
            <a:gdLst/>
            <a:ahLst/>
            <a:cxnLst/>
            <a:rect l="l" t="t" r="r" b="b"/>
            <a:pathLst>
              <a:path w="8681321" h="7802337">
                <a:moveTo>
                  <a:pt x="0" y="0"/>
                </a:moveTo>
                <a:lnTo>
                  <a:pt x="8681321" y="0"/>
                </a:lnTo>
                <a:lnTo>
                  <a:pt x="8681321" y="7802337"/>
                </a:lnTo>
                <a:lnTo>
                  <a:pt x="0" y="780233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Freeform 3"/>
          <p:cNvSpPr/>
          <p:nvPr/>
        </p:nvSpPr>
        <p:spPr>
          <a:xfrm>
            <a:off x="10259281" y="6010480"/>
            <a:ext cx="7288216" cy="7315650"/>
          </a:xfrm>
          <a:custGeom>
            <a:avLst/>
            <a:gdLst/>
            <a:ahLst/>
            <a:cxnLst/>
            <a:rect l="l" t="t" r="r" b="b"/>
            <a:pathLst>
              <a:path w="7288216" h="7315650">
                <a:moveTo>
                  <a:pt x="0" y="0"/>
                </a:moveTo>
                <a:lnTo>
                  <a:pt x="7288216" y="0"/>
                </a:lnTo>
                <a:lnTo>
                  <a:pt x="7288216" y="7315650"/>
                </a:lnTo>
                <a:lnTo>
                  <a:pt x="0" y="731565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TextBox 4"/>
          <p:cNvSpPr txBox="1"/>
          <p:nvPr/>
        </p:nvSpPr>
        <p:spPr>
          <a:xfrm>
            <a:off x="1028700" y="1044803"/>
            <a:ext cx="12388794" cy="171461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720"/>
              </a:lnSpc>
            </a:pPr>
            <a:r>
              <a:rPr lang="en-US" sz="5600">
                <a:solidFill>
                  <a:srgbClr val="0F2A37"/>
                </a:solidFill>
                <a:latin typeface="Forum"/>
                <a:ea typeface="Forum"/>
                <a:cs typeface="Forum"/>
                <a:sym typeface="Forum"/>
              </a:rPr>
              <a:t>SPAM &amp; HAM:  What are they?</a:t>
            </a:r>
          </a:p>
          <a:p>
            <a:pPr algn="l">
              <a:lnSpc>
                <a:spcPts val="6720"/>
              </a:lnSpc>
            </a:pPr>
            <a:endParaRPr lang="en-US" sz="5600">
              <a:solidFill>
                <a:srgbClr val="0F2A37"/>
              </a:solidFill>
              <a:latin typeface="Forum"/>
              <a:ea typeface="Forum"/>
              <a:cs typeface="Forum"/>
              <a:sym typeface="Forum"/>
            </a:endParaRPr>
          </a:p>
        </p:txBody>
      </p:sp>
      <p:sp>
        <p:nvSpPr>
          <p:cNvPr id="5" name="TextBox 5"/>
          <p:cNvSpPr txBox="1"/>
          <p:nvPr/>
        </p:nvSpPr>
        <p:spPr>
          <a:xfrm>
            <a:off x="1028700" y="5382725"/>
            <a:ext cx="15422211" cy="143942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719"/>
              </a:lnSpc>
            </a:pPr>
            <a:r>
              <a:rPr lang="en-US" sz="4399">
                <a:solidFill>
                  <a:srgbClr val="0F2A37"/>
                </a:solidFill>
                <a:latin typeface="TT Drugs"/>
                <a:ea typeface="TT Drugs"/>
                <a:cs typeface="TT Drugs"/>
                <a:sym typeface="TT Drugs"/>
              </a:rPr>
              <a:t>SCAM!!! But why? WHICH WORDS THROW YOU OFF???</a:t>
            </a:r>
          </a:p>
          <a:p>
            <a:pPr algn="l">
              <a:lnSpc>
                <a:spcPts val="5719"/>
              </a:lnSpc>
            </a:pPr>
            <a:endParaRPr lang="en-US" sz="4399">
              <a:solidFill>
                <a:srgbClr val="0F2A37"/>
              </a:solidFill>
              <a:latin typeface="TT Drugs"/>
              <a:ea typeface="TT Drugs"/>
              <a:cs typeface="TT Drugs"/>
              <a:sym typeface="TT Drugs"/>
            </a:endParaRPr>
          </a:p>
        </p:txBody>
      </p:sp>
      <p:sp>
        <p:nvSpPr>
          <p:cNvPr id="6" name="TextBox 6"/>
          <p:cNvSpPr txBox="1"/>
          <p:nvPr/>
        </p:nvSpPr>
        <p:spPr>
          <a:xfrm>
            <a:off x="1028700" y="2990859"/>
            <a:ext cx="15422211" cy="216326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719"/>
              </a:lnSpc>
            </a:pPr>
            <a:r>
              <a:rPr lang="en-US" sz="4399">
                <a:solidFill>
                  <a:srgbClr val="0F2A37"/>
                </a:solidFill>
                <a:latin typeface="TT Drugs"/>
                <a:ea typeface="TT Drugs"/>
                <a:cs typeface="TT Drugs"/>
                <a:sym typeface="TT Drugs"/>
              </a:rPr>
              <a:t>CONGRATULATION Main.Cpp member! You just won a 1000$ reward! REPLY NOW before your offer EXPIRES!</a:t>
            </a:r>
          </a:p>
          <a:p>
            <a:pPr algn="l">
              <a:lnSpc>
                <a:spcPts val="5719"/>
              </a:lnSpc>
            </a:pPr>
            <a:endParaRPr lang="en-US" sz="4399">
              <a:solidFill>
                <a:srgbClr val="0F2A37"/>
              </a:solidFill>
              <a:latin typeface="TT Drugs"/>
              <a:ea typeface="TT Drugs"/>
              <a:cs typeface="TT Drugs"/>
              <a:sym typeface="TT Drug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50">
        <p:fade/>
      </p:transition>
    </mc:Choice>
    <mc:Fallback>
      <p:transition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BDCD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2483111">
            <a:off x="15183806" y="4858923"/>
            <a:ext cx="8681321" cy="7802337"/>
          </a:xfrm>
          <a:custGeom>
            <a:avLst/>
            <a:gdLst/>
            <a:ahLst/>
            <a:cxnLst/>
            <a:rect l="l" t="t" r="r" b="b"/>
            <a:pathLst>
              <a:path w="8681321" h="7802337">
                <a:moveTo>
                  <a:pt x="0" y="0"/>
                </a:moveTo>
                <a:lnTo>
                  <a:pt x="8681321" y="0"/>
                </a:lnTo>
                <a:lnTo>
                  <a:pt x="8681321" y="7802337"/>
                </a:lnTo>
                <a:lnTo>
                  <a:pt x="0" y="780233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Freeform 3"/>
          <p:cNvSpPr/>
          <p:nvPr/>
        </p:nvSpPr>
        <p:spPr>
          <a:xfrm>
            <a:off x="10259281" y="6010480"/>
            <a:ext cx="7288216" cy="7315650"/>
          </a:xfrm>
          <a:custGeom>
            <a:avLst/>
            <a:gdLst/>
            <a:ahLst/>
            <a:cxnLst/>
            <a:rect l="l" t="t" r="r" b="b"/>
            <a:pathLst>
              <a:path w="7288216" h="7315650">
                <a:moveTo>
                  <a:pt x="0" y="0"/>
                </a:moveTo>
                <a:lnTo>
                  <a:pt x="7288216" y="0"/>
                </a:lnTo>
                <a:lnTo>
                  <a:pt x="7288216" y="7315650"/>
                </a:lnTo>
                <a:lnTo>
                  <a:pt x="0" y="731565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TextBox 4"/>
          <p:cNvSpPr txBox="1"/>
          <p:nvPr/>
        </p:nvSpPr>
        <p:spPr>
          <a:xfrm>
            <a:off x="1028700" y="1044803"/>
            <a:ext cx="12388794" cy="17145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720"/>
              </a:lnSpc>
            </a:pPr>
            <a:r>
              <a:rPr lang="en-US" sz="5600">
                <a:solidFill>
                  <a:srgbClr val="0F2A37"/>
                </a:solidFill>
                <a:latin typeface="Forum"/>
                <a:ea typeface="Forum"/>
                <a:cs typeface="Forum"/>
                <a:sym typeface="Forum"/>
              </a:rPr>
              <a:t>SPAM &amp; HAM:  What are they?</a:t>
            </a:r>
          </a:p>
          <a:p>
            <a:pPr algn="l">
              <a:lnSpc>
                <a:spcPts val="6720"/>
              </a:lnSpc>
            </a:pPr>
            <a:endParaRPr lang="en-US" sz="5600">
              <a:solidFill>
                <a:srgbClr val="0F2A37"/>
              </a:solidFill>
              <a:latin typeface="Forum"/>
              <a:ea typeface="Forum"/>
              <a:cs typeface="Forum"/>
              <a:sym typeface="Forum"/>
            </a:endParaRPr>
          </a:p>
        </p:txBody>
      </p:sp>
      <p:sp>
        <p:nvSpPr>
          <p:cNvPr id="5" name="TextBox 5"/>
          <p:cNvSpPr txBox="1"/>
          <p:nvPr/>
        </p:nvSpPr>
        <p:spPr>
          <a:xfrm>
            <a:off x="1028700" y="5382725"/>
            <a:ext cx="15422211" cy="143942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719"/>
              </a:lnSpc>
            </a:pPr>
            <a:r>
              <a:rPr lang="en-US" sz="4399">
                <a:solidFill>
                  <a:srgbClr val="0F2A37"/>
                </a:solidFill>
                <a:latin typeface="TT Drugs"/>
                <a:ea typeface="TT Drugs"/>
                <a:cs typeface="TT Drugs"/>
                <a:sym typeface="TT Drugs"/>
              </a:rPr>
              <a:t>SCAM!!! But why? WHICH WORDS THROW YOU OFF???</a:t>
            </a:r>
          </a:p>
          <a:p>
            <a:pPr algn="l">
              <a:lnSpc>
                <a:spcPts val="5719"/>
              </a:lnSpc>
            </a:pPr>
            <a:endParaRPr lang="en-US" sz="4399">
              <a:solidFill>
                <a:srgbClr val="0F2A37"/>
              </a:solidFill>
              <a:latin typeface="TT Drugs"/>
              <a:ea typeface="TT Drugs"/>
              <a:cs typeface="TT Drugs"/>
              <a:sym typeface="TT Drugs"/>
            </a:endParaRPr>
          </a:p>
        </p:txBody>
      </p:sp>
      <p:sp>
        <p:nvSpPr>
          <p:cNvPr id="6" name="TextBox 6"/>
          <p:cNvSpPr txBox="1"/>
          <p:nvPr/>
        </p:nvSpPr>
        <p:spPr>
          <a:xfrm>
            <a:off x="1028700" y="2990859"/>
            <a:ext cx="15422211" cy="216326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719"/>
              </a:lnSpc>
            </a:pPr>
            <a:r>
              <a:rPr lang="en-US" sz="4399">
                <a:solidFill>
                  <a:srgbClr val="FF3131"/>
                </a:solidFill>
                <a:latin typeface="TT Drugs"/>
                <a:ea typeface="TT Drugs"/>
                <a:cs typeface="TT Drugs"/>
                <a:sym typeface="TT Drugs"/>
              </a:rPr>
              <a:t>CONGRATULATION </a:t>
            </a:r>
            <a:r>
              <a:rPr lang="en-US" sz="4399">
                <a:solidFill>
                  <a:srgbClr val="0F2A37"/>
                </a:solidFill>
                <a:latin typeface="TT Drugs"/>
                <a:ea typeface="TT Drugs"/>
                <a:cs typeface="TT Drugs"/>
                <a:sym typeface="TT Drugs"/>
              </a:rPr>
              <a:t>Main.Cpp member! You just won a </a:t>
            </a:r>
            <a:r>
              <a:rPr lang="en-US" sz="4399">
                <a:solidFill>
                  <a:srgbClr val="FF3131"/>
                </a:solidFill>
                <a:latin typeface="TT Drugs"/>
                <a:ea typeface="TT Drugs"/>
                <a:cs typeface="TT Drugs"/>
                <a:sym typeface="TT Drugs"/>
              </a:rPr>
              <a:t>1000$</a:t>
            </a:r>
            <a:r>
              <a:rPr lang="en-US" sz="4399">
                <a:solidFill>
                  <a:srgbClr val="0F2A37"/>
                </a:solidFill>
                <a:latin typeface="TT Drugs"/>
                <a:ea typeface="TT Drugs"/>
                <a:cs typeface="TT Drugs"/>
                <a:sym typeface="TT Drugs"/>
              </a:rPr>
              <a:t> reward! </a:t>
            </a:r>
            <a:r>
              <a:rPr lang="en-US" sz="4399">
                <a:solidFill>
                  <a:srgbClr val="FF3131"/>
                </a:solidFill>
                <a:latin typeface="TT Drugs"/>
                <a:ea typeface="TT Drugs"/>
                <a:cs typeface="TT Drugs"/>
                <a:sym typeface="TT Drugs"/>
              </a:rPr>
              <a:t>REPLY NOW</a:t>
            </a:r>
            <a:r>
              <a:rPr lang="en-US" sz="4399">
                <a:solidFill>
                  <a:srgbClr val="0F2A37"/>
                </a:solidFill>
                <a:latin typeface="TT Drugs"/>
                <a:ea typeface="TT Drugs"/>
                <a:cs typeface="TT Drugs"/>
                <a:sym typeface="TT Drugs"/>
              </a:rPr>
              <a:t> before your offer </a:t>
            </a:r>
            <a:r>
              <a:rPr lang="en-US" sz="4399">
                <a:solidFill>
                  <a:srgbClr val="FF3131"/>
                </a:solidFill>
                <a:latin typeface="TT Drugs"/>
                <a:ea typeface="TT Drugs"/>
                <a:cs typeface="TT Drugs"/>
                <a:sym typeface="TT Drugs"/>
              </a:rPr>
              <a:t>EXPIRES</a:t>
            </a:r>
            <a:r>
              <a:rPr lang="en-US" sz="4399">
                <a:solidFill>
                  <a:srgbClr val="0F2A37"/>
                </a:solidFill>
                <a:latin typeface="TT Drugs"/>
                <a:ea typeface="TT Drugs"/>
                <a:cs typeface="TT Drugs"/>
                <a:sym typeface="TT Drugs"/>
              </a:rPr>
              <a:t>!</a:t>
            </a:r>
          </a:p>
          <a:p>
            <a:pPr algn="l">
              <a:lnSpc>
                <a:spcPts val="5719"/>
              </a:lnSpc>
            </a:pPr>
            <a:endParaRPr lang="en-US" sz="4399">
              <a:solidFill>
                <a:srgbClr val="0F2A37"/>
              </a:solidFill>
              <a:latin typeface="TT Drugs"/>
              <a:ea typeface="TT Drugs"/>
              <a:cs typeface="TT Drugs"/>
              <a:sym typeface="TT Drug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50">
        <p:fade/>
      </p:transition>
    </mc:Choice>
    <mc:Fallback>
      <p:transition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D769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8687688">
            <a:off x="10282257" y="5034286"/>
            <a:ext cx="8922358" cy="9404330"/>
          </a:xfrm>
          <a:custGeom>
            <a:avLst/>
            <a:gdLst/>
            <a:ahLst/>
            <a:cxnLst/>
            <a:rect l="l" t="t" r="r" b="b"/>
            <a:pathLst>
              <a:path w="8922358" h="9404330">
                <a:moveTo>
                  <a:pt x="0" y="0"/>
                </a:moveTo>
                <a:lnTo>
                  <a:pt x="8922358" y="0"/>
                </a:lnTo>
                <a:lnTo>
                  <a:pt x="8922358" y="9404330"/>
                </a:lnTo>
                <a:lnTo>
                  <a:pt x="0" y="940433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Freeform 3"/>
          <p:cNvSpPr/>
          <p:nvPr/>
        </p:nvSpPr>
        <p:spPr>
          <a:xfrm rot="-10013544">
            <a:off x="-1834628" y="-2396987"/>
            <a:ext cx="8825308" cy="8229600"/>
          </a:xfrm>
          <a:custGeom>
            <a:avLst/>
            <a:gdLst/>
            <a:ahLst/>
            <a:cxnLst/>
            <a:rect l="l" t="t" r="r" b="b"/>
            <a:pathLst>
              <a:path w="8825308" h="8229600">
                <a:moveTo>
                  <a:pt x="0" y="0"/>
                </a:moveTo>
                <a:lnTo>
                  <a:pt x="8825308" y="0"/>
                </a:lnTo>
                <a:lnTo>
                  <a:pt x="8825308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TextBox 4"/>
          <p:cNvSpPr txBox="1"/>
          <p:nvPr/>
        </p:nvSpPr>
        <p:spPr>
          <a:xfrm>
            <a:off x="2319224" y="3408174"/>
            <a:ext cx="13649552" cy="148638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1374"/>
              </a:lnSpc>
            </a:pPr>
            <a:r>
              <a:rPr lang="en-US" sz="10340">
                <a:solidFill>
                  <a:srgbClr val="FFFFFF"/>
                </a:solidFill>
                <a:latin typeface="Forum"/>
                <a:ea typeface="Forum"/>
                <a:cs typeface="Forum"/>
                <a:sym typeface="Forum"/>
              </a:rPr>
              <a:t>RULE-BASED APPROACH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3566360" y="5000555"/>
            <a:ext cx="11155280" cy="70542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5739"/>
              </a:lnSpc>
              <a:spcBef>
                <a:spcPct val="0"/>
              </a:spcBef>
            </a:pPr>
            <a:r>
              <a:rPr lang="en-US" sz="4099">
                <a:solidFill>
                  <a:srgbClr val="FFFFFF"/>
                </a:solidFill>
                <a:latin typeface="TT Drugs"/>
                <a:ea typeface="TT Drugs"/>
                <a:cs typeface="TT Drugs"/>
                <a:sym typeface="TT Drugs"/>
              </a:rPr>
              <a:t>Simple but is it effective?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50">
        <p:fade/>
      </p:transition>
    </mc:Choice>
    <mc:Fallback>
      <p:transition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BDCD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2483111">
            <a:off x="15183806" y="4858923"/>
            <a:ext cx="8681321" cy="7802337"/>
          </a:xfrm>
          <a:custGeom>
            <a:avLst/>
            <a:gdLst/>
            <a:ahLst/>
            <a:cxnLst/>
            <a:rect l="l" t="t" r="r" b="b"/>
            <a:pathLst>
              <a:path w="8681321" h="7802337">
                <a:moveTo>
                  <a:pt x="0" y="0"/>
                </a:moveTo>
                <a:lnTo>
                  <a:pt x="8681321" y="0"/>
                </a:lnTo>
                <a:lnTo>
                  <a:pt x="8681321" y="7802337"/>
                </a:lnTo>
                <a:lnTo>
                  <a:pt x="0" y="780233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Freeform 3"/>
          <p:cNvSpPr/>
          <p:nvPr/>
        </p:nvSpPr>
        <p:spPr>
          <a:xfrm>
            <a:off x="10259281" y="6010480"/>
            <a:ext cx="7288216" cy="7315650"/>
          </a:xfrm>
          <a:custGeom>
            <a:avLst/>
            <a:gdLst/>
            <a:ahLst/>
            <a:cxnLst/>
            <a:rect l="l" t="t" r="r" b="b"/>
            <a:pathLst>
              <a:path w="7288216" h="7315650">
                <a:moveTo>
                  <a:pt x="0" y="0"/>
                </a:moveTo>
                <a:lnTo>
                  <a:pt x="7288216" y="0"/>
                </a:lnTo>
                <a:lnTo>
                  <a:pt x="7288216" y="7315650"/>
                </a:lnTo>
                <a:lnTo>
                  <a:pt x="0" y="731565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TextBox 4"/>
          <p:cNvSpPr txBox="1"/>
          <p:nvPr/>
        </p:nvSpPr>
        <p:spPr>
          <a:xfrm>
            <a:off x="1028700" y="1054328"/>
            <a:ext cx="12388794" cy="13430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0559"/>
              </a:lnSpc>
            </a:pPr>
            <a:r>
              <a:rPr lang="en-US" sz="8799">
                <a:solidFill>
                  <a:srgbClr val="0F2A37"/>
                </a:solidFill>
                <a:latin typeface="Forum"/>
                <a:ea typeface="Forum"/>
                <a:cs typeface="Forum"/>
                <a:sym typeface="Forum"/>
              </a:rPr>
              <a:t>Rule-based Approach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028700" y="2990859"/>
            <a:ext cx="16230600" cy="216326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719"/>
              </a:lnSpc>
            </a:pPr>
            <a:r>
              <a:rPr lang="en-US" sz="4399">
                <a:solidFill>
                  <a:srgbClr val="0F2A37"/>
                </a:solidFill>
                <a:latin typeface="TT Drugs"/>
                <a:ea typeface="TT Drugs"/>
                <a:cs typeface="TT Drugs"/>
                <a:sym typeface="TT Drugs"/>
              </a:rPr>
              <a:t>CONGRATULATIONS on WINNING, daughter!!! I’m so proud of you. Imma bank you 1000$ IMMEDIATELY for dinner!!!</a:t>
            </a:r>
          </a:p>
          <a:p>
            <a:pPr algn="l">
              <a:lnSpc>
                <a:spcPts val="5719"/>
              </a:lnSpc>
            </a:pPr>
            <a:endParaRPr lang="en-US" sz="4399">
              <a:solidFill>
                <a:srgbClr val="0F2A37"/>
              </a:solidFill>
              <a:latin typeface="TT Drugs"/>
              <a:ea typeface="TT Drugs"/>
              <a:cs typeface="TT Drugs"/>
              <a:sym typeface="TT Drug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50">
        <p:fade/>
      </p:transition>
    </mc:Choice>
    <mc:Fallback>
      <p:transition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BDCD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2483111">
            <a:off x="15183806" y="4858923"/>
            <a:ext cx="8681321" cy="7802337"/>
          </a:xfrm>
          <a:custGeom>
            <a:avLst/>
            <a:gdLst/>
            <a:ahLst/>
            <a:cxnLst/>
            <a:rect l="l" t="t" r="r" b="b"/>
            <a:pathLst>
              <a:path w="8681321" h="7802337">
                <a:moveTo>
                  <a:pt x="0" y="0"/>
                </a:moveTo>
                <a:lnTo>
                  <a:pt x="8681321" y="0"/>
                </a:lnTo>
                <a:lnTo>
                  <a:pt x="8681321" y="7802337"/>
                </a:lnTo>
                <a:lnTo>
                  <a:pt x="0" y="780233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Freeform 3"/>
          <p:cNvSpPr/>
          <p:nvPr/>
        </p:nvSpPr>
        <p:spPr>
          <a:xfrm>
            <a:off x="11368695" y="6919583"/>
            <a:ext cx="7288216" cy="7315650"/>
          </a:xfrm>
          <a:custGeom>
            <a:avLst/>
            <a:gdLst/>
            <a:ahLst/>
            <a:cxnLst/>
            <a:rect l="l" t="t" r="r" b="b"/>
            <a:pathLst>
              <a:path w="7288216" h="7315650">
                <a:moveTo>
                  <a:pt x="0" y="0"/>
                </a:moveTo>
                <a:lnTo>
                  <a:pt x="7288216" y="0"/>
                </a:lnTo>
                <a:lnTo>
                  <a:pt x="7288216" y="7315650"/>
                </a:lnTo>
                <a:lnTo>
                  <a:pt x="0" y="731565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TextBox 4"/>
          <p:cNvSpPr txBox="1"/>
          <p:nvPr/>
        </p:nvSpPr>
        <p:spPr>
          <a:xfrm>
            <a:off x="1028700" y="1054328"/>
            <a:ext cx="12388794" cy="13430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0559"/>
              </a:lnSpc>
            </a:pPr>
            <a:r>
              <a:rPr lang="en-US" sz="8799" dirty="0">
                <a:solidFill>
                  <a:srgbClr val="0F2A37"/>
                </a:solidFill>
                <a:latin typeface="Forum"/>
                <a:ea typeface="Forum"/>
                <a:cs typeface="Forum"/>
                <a:sym typeface="Forum"/>
              </a:rPr>
              <a:t>Rule-based Approach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028700" y="2990859"/>
            <a:ext cx="16230600" cy="216326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719"/>
              </a:lnSpc>
            </a:pPr>
            <a:r>
              <a:rPr lang="en-US" sz="4399" dirty="0">
                <a:solidFill>
                  <a:srgbClr val="0F2A37"/>
                </a:solidFill>
                <a:latin typeface="TT Drugs"/>
                <a:ea typeface="TT Drugs"/>
                <a:cs typeface="TT Drugs"/>
                <a:sym typeface="TT Drugs"/>
              </a:rPr>
              <a:t>CONGRATULATIONS on WINNING, daughter!!! I’m so proud of you. Imma bank you 1000$ IMMEDIATELY for dinner!!!</a:t>
            </a:r>
          </a:p>
          <a:p>
            <a:pPr algn="l">
              <a:lnSpc>
                <a:spcPts val="5719"/>
              </a:lnSpc>
            </a:pPr>
            <a:endParaRPr lang="en-US" sz="4399" dirty="0">
              <a:solidFill>
                <a:srgbClr val="0F2A37"/>
              </a:solidFill>
              <a:latin typeface="TT Drugs"/>
              <a:ea typeface="TT Drugs"/>
              <a:cs typeface="TT Drugs"/>
              <a:sym typeface="TT Drugs"/>
            </a:endParaRPr>
          </a:p>
        </p:txBody>
      </p:sp>
      <p:sp>
        <p:nvSpPr>
          <p:cNvPr id="6" name="TextBox 6"/>
          <p:cNvSpPr txBox="1"/>
          <p:nvPr/>
        </p:nvSpPr>
        <p:spPr>
          <a:xfrm>
            <a:off x="1028700" y="6072435"/>
            <a:ext cx="16351003" cy="6978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589"/>
              </a:lnSpc>
            </a:pPr>
            <a:r>
              <a:rPr lang="en-US" sz="4299">
                <a:solidFill>
                  <a:srgbClr val="0F2A37"/>
                </a:solidFill>
                <a:latin typeface="TT Drugs"/>
                <a:ea typeface="TT Drugs"/>
                <a:cs typeface="TT Drugs"/>
                <a:sym typeface="TT Drugs"/>
              </a:rPr>
              <a:t>AW, such a supportive dad!! BUT DOES THE MACHINE KNOW?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50">
        <p:fade/>
      </p:transition>
    </mc:Choice>
    <mc:Fallback>
      <p:transition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BDCD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2483111">
            <a:off x="15183806" y="4858923"/>
            <a:ext cx="8681321" cy="7802337"/>
          </a:xfrm>
          <a:custGeom>
            <a:avLst/>
            <a:gdLst/>
            <a:ahLst/>
            <a:cxnLst/>
            <a:rect l="l" t="t" r="r" b="b"/>
            <a:pathLst>
              <a:path w="8681321" h="7802337">
                <a:moveTo>
                  <a:pt x="0" y="0"/>
                </a:moveTo>
                <a:lnTo>
                  <a:pt x="8681321" y="0"/>
                </a:lnTo>
                <a:lnTo>
                  <a:pt x="8681321" y="7802337"/>
                </a:lnTo>
                <a:lnTo>
                  <a:pt x="0" y="780233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TextBox 4"/>
          <p:cNvSpPr txBox="1"/>
          <p:nvPr/>
        </p:nvSpPr>
        <p:spPr>
          <a:xfrm>
            <a:off x="1028700" y="2990680"/>
            <a:ext cx="16230600" cy="21634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719"/>
              </a:lnSpc>
            </a:pPr>
            <a:r>
              <a:rPr lang="en-US" sz="4399">
                <a:solidFill>
                  <a:srgbClr val="FF3131"/>
                </a:solidFill>
                <a:latin typeface="TT Drugs"/>
                <a:ea typeface="TT Drugs"/>
                <a:cs typeface="TT Drugs"/>
                <a:sym typeface="TT Drugs"/>
              </a:rPr>
              <a:t>CONGRATULATIONS </a:t>
            </a:r>
            <a:r>
              <a:rPr lang="en-US" sz="4399">
                <a:solidFill>
                  <a:srgbClr val="0F2A37"/>
                </a:solidFill>
                <a:latin typeface="TT Drugs"/>
                <a:ea typeface="TT Drugs"/>
                <a:cs typeface="TT Drugs"/>
                <a:sym typeface="TT Drugs"/>
              </a:rPr>
              <a:t>on </a:t>
            </a:r>
            <a:r>
              <a:rPr lang="en-US" sz="4399">
                <a:solidFill>
                  <a:srgbClr val="FF3131"/>
                </a:solidFill>
                <a:latin typeface="TT Drugs"/>
                <a:ea typeface="TT Drugs"/>
                <a:cs typeface="TT Drugs"/>
                <a:sym typeface="TT Drugs"/>
              </a:rPr>
              <a:t>WINNING</a:t>
            </a:r>
            <a:r>
              <a:rPr lang="en-US" sz="4399">
                <a:solidFill>
                  <a:srgbClr val="0F2A37"/>
                </a:solidFill>
                <a:latin typeface="TT Drugs"/>
                <a:ea typeface="TT Drugs"/>
                <a:cs typeface="TT Drugs"/>
                <a:sym typeface="TT Drugs"/>
              </a:rPr>
              <a:t>, daughter!!! I’m so proud of you. Imma bank you </a:t>
            </a:r>
            <a:r>
              <a:rPr lang="en-US" sz="4399">
                <a:solidFill>
                  <a:srgbClr val="FF3131"/>
                </a:solidFill>
                <a:latin typeface="TT Drugs"/>
                <a:ea typeface="TT Drugs"/>
                <a:cs typeface="TT Drugs"/>
                <a:sym typeface="TT Drugs"/>
              </a:rPr>
              <a:t>1000$ IMMEDIATELY </a:t>
            </a:r>
            <a:r>
              <a:rPr lang="en-US" sz="4399">
                <a:solidFill>
                  <a:srgbClr val="0F2A37"/>
                </a:solidFill>
                <a:latin typeface="TT Drugs"/>
                <a:ea typeface="TT Drugs"/>
                <a:cs typeface="TT Drugs"/>
                <a:sym typeface="TT Drugs"/>
              </a:rPr>
              <a:t>for dinner!!!</a:t>
            </a:r>
          </a:p>
          <a:p>
            <a:pPr algn="l">
              <a:lnSpc>
                <a:spcPts val="5719"/>
              </a:lnSpc>
            </a:pPr>
            <a:endParaRPr lang="en-US" sz="4399">
              <a:solidFill>
                <a:srgbClr val="0F2A37"/>
              </a:solidFill>
              <a:latin typeface="TT Drugs"/>
              <a:ea typeface="TT Drugs"/>
              <a:cs typeface="TT Drugs"/>
              <a:sym typeface="TT Drugs"/>
            </a:endParaRPr>
          </a:p>
        </p:txBody>
      </p:sp>
      <p:sp>
        <p:nvSpPr>
          <p:cNvPr id="5" name="TextBox 5"/>
          <p:cNvSpPr txBox="1"/>
          <p:nvPr/>
        </p:nvSpPr>
        <p:spPr>
          <a:xfrm>
            <a:off x="968499" y="5439407"/>
            <a:ext cx="16351003" cy="484759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9889"/>
              </a:lnSpc>
            </a:pPr>
            <a:r>
              <a:rPr lang="en-US" sz="4299">
                <a:solidFill>
                  <a:srgbClr val="0F2A37"/>
                </a:solidFill>
                <a:latin typeface="TT Drugs"/>
                <a:ea typeface="TT Drugs"/>
                <a:cs typeface="TT Drugs"/>
                <a:sym typeface="TT Drugs"/>
              </a:rPr>
              <a:t>MACHINE: SCAM!!!  (*Blocks dad immediately lol…)</a:t>
            </a:r>
          </a:p>
          <a:p>
            <a:pPr algn="l">
              <a:lnSpc>
                <a:spcPts val="9889"/>
              </a:lnSpc>
            </a:pPr>
            <a:r>
              <a:rPr lang="en-US" sz="4299">
                <a:solidFill>
                  <a:srgbClr val="0F2A37"/>
                </a:solidFill>
                <a:latin typeface="TT Drugs"/>
                <a:ea typeface="TT Drugs"/>
                <a:cs typeface="TT Drugs"/>
                <a:sym typeface="TT Drugs"/>
              </a:rPr>
              <a:t>Daughter:  Doesn’t get her 1000$  :’&lt;&lt;</a:t>
            </a:r>
          </a:p>
          <a:p>
            <a:pPr algn="l">
              <a:lnSpc>
                <a:spcPts val="9889"/>
              </a:lnSpc>
            </a:pPr>
            <a:endParaRPr lang="en-US" sz="4299">
              <a:solidFill>
                <a:srgbClr val="0F2A37"/>
              </a:solidFill>
              <a:latin typeface="TT Drugs"/>
              <a:ea typeface="TT Drugs"/>
              <a:cs typeface="TT Drugs"/>
              <a:sym typeface="TT Drugs"/>
            </a:endParaRPr>
          </a:p>
          <a:p>
            <a:pPr algn="l">
              <a:lnSpc>
                <a:spcPts val="9889"/>
              </a:lnSpc>
            </a:pPr>
            <a:endParaRPr lang="en-US" sz="4299">
              <a:solidFill>
                <a:srgbClr val="0F2A37"/>
              </a:solidFill>
              <a:latin typeface="TT Drugs"/>
              <a:ea typeface="TT Drugs"/>
              <a:cs typeface="TT Drugs"/>
              <a:sym typeface="TT Drugs"/>
            </a:endParaRPr>
          </a:p>
        </p:txBody>
      </p:sp>
      <p:sp>
        <p:nvSpPr>
          <p:cNvPr id="6" name="Freeform 6"/>
          <p:cNvSpPr/>
          <p:nvPr/>
        </p:nvSpPr>
        <p:spPr>
          <a:xfrm>
            <a:off x="11368695" y="6919583"/>
            <a:ext cx="7288216" cy="7315650"/>
          </a:xfrm>
          <a:custGeom>
            <a:avLst/>
            <a:gdLst/>
            <a:ahLst/>
            <a:cxnLst/>
            <a:rect l="l" t="t" r="r" b="b"/>
            <a:pathLst>
              <a:path w="7288216" h="7315650">
                <a:moveTo>
                  <a:pt x="0" y="0"/>
                </a:moveTo>
                <a:lnTo>
                  <a:pt x="7288216" y="0"/>
                </a:lnTo>
                <a:lnTo>
                  <a:pt x="7288216" y="7315650"/>
                </a:lnTo>
                <a:lnTo>
                  <a:pt x="0" y="731565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8" name="TextBox 4">
            <a:extLst>
              <a:ext uri="{FF2B5EF4-FFF2-40B4-BE49-F238E27FC236}">
                <a16:creationId xmlns:a16="http://schemas.microsoft.com/office/drawing/2014/main" id="{F9640A7A-4CBE-8EF4-A940-374495FD5C24}"/>
              </a:ext>
            </a:extLst>
          </p:cNvPr>
          <p:cNvSpPr txBox="1"/>
          <p:nvPr/>
        </p:nvSpPr>
        <p:spPr>
          <a:xfrm>
            <a:off x="1028700" y="1054328"/>
            <a:ext cx="12388794" cy="13430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0559"/>
              </a:lnSpc>
            </a:pPr>
            <a:r>
              <a:rPr lang="en-US" sz="8799" dirty="0">
                <a:solidFill>
                  <a:srgbClr val="0F2A37"/>
                </a:solidFill>
                <a:latin typeface="Forum"/>
                <a:ea typeface="Forum"/>
                <a:cs typeface="Forum"/>
                <a:sym typeface="Forum"/>
              </a:rPr>
              <a:t>Rule-based Approach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50">
        <p:fade/>
      </p:transition>
    </mc:Choice>
    <mc:Fallback>
      <p:transition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BDCD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2483111">
            <a:off x="15183806" y="4858923"/>
            <a:ext cx="8681321" cy="7802337"/>
          </a:xfrm>
          <a:custGeom>
            <a:avLst/>
            <a:gdLst/>
            <a:ahLst/>
            <a:cxnLst/>
            <a:rect l="l" t="t" r="r" b="b"/>
            <a:pathLst>
              <a:path w="8681321" h="7802337">
                <a:moveTo>
                  <a:pt x="0" y="0"/>
                </a:moveTo>
                <a:lnTo>
                  <a:pt x="8681321" y="0"/>
                </a:lnTo>
                <a:lnTo>
                  <a:pt x="8681321" y="7802337"/>
                </a:lnTo>
                <a:lnTo>
                  <a:pt x="0" y="780233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Freeform 3"/>
          <p:cNvSpPr/>
          <p:nvPr/>
        </p:nvSpPr>
        <p:spPr>
          <a:xfrm>
            <a:off x="10259281" y="6010480"/>
            <a:ext cx="7288216" cy="7315650"/>
          </a:xfrm>
          <a:custGeom>
            <a:avLst/>
            <a:gdLst/>
            <a:ahLst/>
            <a:cxnLst/>
            <a:rect l="l" t="t" r="r" b="b"/>
            <a:pathLst>
              <a:path w="7288216" h="7315650">
                <a:moveTo>
                  <a:pt x="0" y="0"/>
                </a:moveTo>
                <a:lnTo>
                  <a:pt x="7288216" y="0"/>
                </a:lnTo>
                <a:lnTo>
                  <a:pt x="7288216" y="7315650"/>
                </a:lnTo>
                <a:lnTo>
                  <a:pt x="0" y="731565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TextBox 4"/>
          <p:cNvSpPr txBox="1"/>
          <p:nvPr/>
        </p:nvSpPr>
        <p:spPr>
          <a:xfrm>
            <a:off x="564304" y="2696726"/>
            <a:ext cx="15730456" cy="407582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990531" lvl="1" indent="-495265" algn="l">
              <a:lnSpc>
                <a:spcPts val="8212"/>
              </a:lnSpc>
              <a:buFont typeface="Arial"/>
              <a:buChar char="•"/>
            </a:pPr>
            <a:r>
              <a:rPr lang="en-US" sz="4587">
                <a:solidFill>
                  <a:srgbClr val="0F2A37"/>
                </a:solidFill>
                <a:latin typeface="TT Drugs"/>
                <a:ea typeface="TT Drugs"/>
                <a:cs typeface="TT Drugs"/>
                <a:sym typeface="TT Drugs"/>
              </a:rPr>
              <a:t>Harmless message can contain “suspicious” words.</a:t>
            </a:r>
          </a:p>
          <a:p>
            <a:pPr marL="990531" lvl="1" indent="-495265" algn="l">
              <a:lnSpc>
                <a:spcPts val="8212"/>
              </a:lnSpc>
              <a:buFont typeface="Arial"/>
              <a:buChar char="•"/>
            </a:pPr>
            <a:r>
              <a:rPr lang="en-US" sz="4587">
                <a:solidFill>
                  <a:srgbClr val="0F2A37"/>
                </a:solidFill>
                <a:latin typeface="TT Drugs"/>
                <a:ea typeface="TT Drugs"/>
                <a:cs typeface="TT Drugs"/>
                <a:sym typeface="TT Drugs"/>
              </a:rPr>
              <a:t>Scammers can bypass by avoiding those keywords.</a:t>
            </a:r>
          </a:p>
          <a:p>
            <a:pPr marL="990531" lvl="1" indent="-495265" algn="l">
              <a:lnSpc>
                <a:spcPts val="8212"/>
              </a:lnSpc>
              <a:buFont typeface="Arial"/>
              <a:buChar char="•"/>
            </a:pPr>
            <a:r>
              <a:rPr lang="en-US" sz="4587">
                <a:solidFill>
                  <a:srgbClr val="0F2A37"/>
                </a:solidFill>
                <a:latin typeface="TT Drugs"/>
                <a:ea typeface="TT Drugs"/>
                <a:cs typeface="TT Drugs"/>
                <a:sym typeface="TT Drugs"/>
              </a:rPr>
              <a:t>Can’t update the number of words forever!</a:t>
            </a:r>
          </a:p>
          <a:p>
            <a:pPr algn="l">
              <a:lnSpc>
                <a:spcPts val="8212"/>
              </a:lnSpc>
            </a:pPr>
            <a:endParaRPr lang="en-US" sz="4587">
              <a:solidFill>
                <a:srgbClr val="0F2A37"/>
              </a:solidFill>
              <a:latin typeface="TT Drugs"/>
              <a:ea typeface="TT Drugs"/>
              <a:cs typeface="TT Drugs"/>
              <a:sym typeface="TT Drugs"/>
            </a:endParaRPr>
          </a:p>
        </p:txBody>
      </p:sp>
      <p:sp>
        <p:nvSpPr>
          <p:cNvPr id="5" name="TextBox 5"/>
          <p:cNvSpPr txBox="1"/>
          <p:nvPr/>
        </p:nvSpPr>
        <p:spPr>
          <a:xfrm>
            <a:off x="1028700" y="1054328"/>
            <a:ext cx="15266060" cy="123110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9599"/>
              </a:lnSpc>
            </a:pPr>
            <a:r>
              <a:rPr lang="en-US" sz="8800" dirty="0">
                <a:solidFill>
                  <a:srgbClr val="0F2A37"/>
                </a:solidFill>
                <a:latin typeface="Forum"/>
                <a:ea typeface="Forum"/>
                <a:cs typeface="Forum"/>
                <a:sym typeface="Forum"/>
              </a:rPr>
              <a:t>Rule-based Approach Limitation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50">
        <p:fade/>
      </p:transition>
    </mc:Choice>
    <mc:Fallback>
      <p:transition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BDCD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2483111">
            <a:off x="15183806" y="4858923"/>
            <a:ext cx="8681321" cy="7802337"/>
          </a:xfrm>
          <a:custGeom>
            <a:avLst/>
            <a:gdLst/>
            <a:ahLst/>
            <a:cxnLst/>
            <a:rect l="l" t="t" r="r" b="b"/>
            <a:pathLst>
              <a:path w="8681321" h="7802337">
                <a:moveTo>
                  <a:pt x="0" y="0"/>
                </a:moveTo>
                <a:lnTo>
                  <a:pt x="8681321" y="0"/>
                </a:lnTo>
                <a:lnTo>
                  <a:pt x="8681321" y="7802337"/>
                </a:lnTo>
                <a:lnTo>
                  <a:pt x="0" y="780233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Freeform 3"/>
          <p:cNvSpPr/>
          <p:nvPr/>
        </p:nvSpPr>
        <p:spPr>
          <a:xfrm>
            <a:off x="10259281" y="6010480"/>
            <a:ext cx="7288216" cy="7315650"/>
          </a:xfrm>
          <a:custGeom>
            <a:avLst/>
            <a:gdLst/>
            <a:ahLst/>
            <a:cxnLst/>
            <a:rect l="l" t="t" r="r" b="b"/>
            <a:pathLst>
              <a:path w="7288216" h="7315650">
                <a:moveTo>
                  <a:pt x="0" y="0"/>
                </a:moveTo>
                <a:lnTo>
                  <a:pt x="7288216" y="0"/>
                </a:lnTo>
                <a:lnTo>
                  <a:pt x="7288216" y="7315650"/>
                </a:lnTo>
                <a:lnTo>
                  <a:pt x="0" y="731565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TextBox 4"/>
          <p:cNvSpPr txBox="1"/>
          <p:nvPr/>
        </p:nvSpPr>
        <p:spPr>
          <a:xfrm>
            <a:off x="564304" y="2696726"/>
            <a:ext cx="15730456" cy="407582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990531" lvl="1" indent="-495265" algn="l">
              <a:lnSpc>
                <a:spcPts val="8212"/>
              </a:lnSpc>
              <a:buFont typeface="Arial"/>
              <a:buChar char="•"/>
            </a:pPr>
            <a:r>
              <a:rPr lang="en-US" sz="4587">
                <a:solidFill>
                  <a:srgbClr val="0F2A37"/>
                </a:solidFill>
                <a:latin typeface="TT Drugs"/>
                <a:ea typeface="TT Drugs"/>
                <a:cs typeface="TT Drugs"/>
                <a:sym typeface="TT Drugs"/>
              </a:rPr>
              <a:t>Harmless message can contain “suspicious” words.</a:t>
            </a:r>
          </a:p>
          <a:p>
            <a:pPr marL="990531" lvl="1" indent="-495265" algn="l">
              <a:lnSpc>
                <a:spcPts val="8212"/>
              </a:lnSpc>
              <a:buFont typeface="Arial"/>
              <a:buChar char="•"/>
            </a:pPr>
            <a:r>
              <a:rPr lang="en-US" sz="4587">
                <a:solidFill>
                  <a:srgbClr val="0F2A37"/>
                </a:solidFill>
                <a:latin typeface="TT Drugs"/>
                <a:ea typeface="TT Drugs"/>
                <a:cs typeface="TT Drugs"/>
                <a:sym typeface="TT Drugs"/>
              </a:rPr>
              <a:t>Scammers can bypass by avoiding those keywords.</a:t>
            </a:r>
          </a:p>
          <a:p>
            <a:pPr marL="990531" lvl="1" indent="-495265" algn="l">
              <a:lnSpc>
                <a:spcPts val="8212"/>
              </a:lnSpc>
              <a:buFont typeface="Arial"/>
              <a:buChar char="•"/>
            </a:pPr>
            <a:r>
              <a:rPr lang="en-US" sz="4587">
                <a:solidFill>
                  <a:srgbClr val="0F2A37"/>
                </a:solidFill>
                <a:latin typeface="TT Drugs"/>
                <a:ea typeface="TT Drugs"/>
                <a:cs typeface="TT Drugs"/>
                <a:sym typeface="TT Drugs"/>
              </a:rPr>
              <a:t>Can’t update the number of words forever!</a:t>
            </a:r>
          </a:p>
          <a:p>
            <a:pPr algn="l">
              <a:lnSpc>
                <a:spcPts val="8212"/>
              </a:lnSpc>
            </a:pPr>
            <a:endParaRPr lang="en-US" sz="4587">
              <a:solidFill>
                <a:srgbClr val="0F2A37"/>
              </a:solidFill>
              <a:latin typeface="TT Drugs"/>
              <a:ea typeface="TT Drugs"/>
              <a:cs typeface="TT Drugs"/>
              <a:sym typeface="TT Drugs"/>
            </a:endParaRPr>
          </a:p>
        </p:txBody>
      </p:sp>
      <p:sp>
        <p:nvSpPr>
          <p:cNvPr id="6" name="TextBox 6"/>
          <p:cNvSpPr txBox="1"/>
          <p:nvPr/>
        </p:nvSpPr>
        <p:spPr>
          <a:xfrm>
            <a:off x="243133" y="6546474"/>
            <a:ext cx="10534402" cy="13843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599"/>
              </a:lnSpc>
              <a:spcBef>
                <a:spcPct val="0"/>
              </a:spcBef>
            </a:pPr>
            <a:r>
              <a:rPr lang="en-US" sz="3999">
                <a:solidFill>
                  <a:srgbClr val="FF3131"/>
                </a:solidFill>
                <a:latin typeface="TT Drugs"/>
                <a:ea typeface="TT Drugs"/>
                <a:cs typeface="TT Drugs"/>
                <a:sym typeface="TT Drugs"/>
              </a:rPr>
              <a:t>⟶  WE NEED A BETTER APPROACH!!!</a:t>
            </a:r>
          </a:p>
          <a:p>
            <a:pPr algn="ctr">
              <a:lnSpc>
                <a:spcPts val="5599"/>
              </a:lnSpc>
              <a:spcBef>
                <a:spcPct val="0"/>
              </a:spcBef>
            </a:pPr>
            <a:endParaRPr lang="en-US" sz="3999">
              <a:solidFill>
                <a:srgbClr val="FF3131"/>
              </a:solidFill>
              <a:latin typeface="TT Drugs"/>
              <a:ea typeface="TT Drugs"/>
              <a:cs typeface="TT Drugs"/>
              <a:sym typeface="TT Drugs"/>
            </a:endParaRPr>
          </a:p>
        </p:txBody>
      </p:sp>
      <p:sp>
        <p:nvSpPr>
          <p:cNvPr id="8" name="TextBox 5">
            <a:extLst>
              <a:ext uri="{FF2B5EF4-FFF2-40B4-BE49-F238E27FC236}">
                <a16:creationId xmlns:a16="http://schemas.microsoft.com/office/drawing/2014/main" id="{6DA68B41-77AB-FDD3-E11A-56731D97EB00}"/>
              </a:ext>
            </a:extLst>
          </p:cNvPr>
          <p:cNvSpPr txBox="1"/>
          <p:nvPr/>
        </p:nvSpPr>
        <p:spPr>
          <a:xfrm>
            <a:off x="1028700" y="1054328"/>
            <a:ext cx="15730456" cy="123110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9599"/>
              </a:lnSpc>
            </a:pPr>
            <a:r>
              <a:rPr lang="en-US" sz="8800" dirty="0">
                <a:solidFill>
                  <a:srgbClr val="0F2A37"/>
                </a:solidFill>
                <a:latin typeface="Forum"/>
                <a:ea typeface="Forum"/>
                <a:cs typeface="Forum"/>
                <a:sym typeface="Forum"/>
              </a:rPr>
              <a:t>Rule-based Approach Limitation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50">
        <p:fade/>
      </p:transition>
    </mc:Choice>
    <mc:Fallback>
      <p:transition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D769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8687688">
            <a:off x="10282257" y="5034286"/>
            <a:ext cx="8922358" cy="9404330"/>
          </a:xfrm>
          <a:custGeom>
            <a:avLst/>
            <a:gdLst/>
            <a:ahLst/>
            <a:cxnLst/>
            <a:rect l="l" t="t" r="r" b="b"/>
            <a:pathLst>
              <a:path w="8922358" h="9404330">
                <a:moveTo>
                  <a:pt x="0" y="0"/>
                </a:moveTo>
                <a:lnTo>
                  <a:pt x="8922358" y="0"/>
                </a:lnTo>
                <a:lnTo>
                  <a:pt x="8922358" y="9404330"/>
                </a:lnTo>
                <a:lnTo>
                  <a:pt x="0" y="940433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Freeform 3"/>
          <p:cNvSpPr/>
          <p:nvPr/>
        </p:nvSpPr>
        <p:spPr>
          <a:xfrm rot="-10013544">
            <a:off x="-1834628" y="-2396987"/>
            <a:ext cx="8825308" cy="8229600"/>
          </a:xfrm>
          <a:custGeom>
            <a:avLst/>
            <a:gdLst/>
            <a:ahLst/>
            <a:cxnLst/>
            <a:rect l="l" t="t" r="r" b="b"/>
            <a:pathLst>
              <a:path w="8825308" h="8229600">
                <a:moveTo>
                  <a:pt x="0" y="0"/>
                </a:moveTo>
                <a:lnTo>
                  <a:pt x="8825308" y="0"/>
                </a:lnTo>
                <a:lnTo>
                  <a:pt x="8825308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TextBox 4"/>
          <p:cNvSpPr txBox="1"/>
          <p:nvPr/>
        </p:nvSpPr>
        <p:spPr>
          <a:xfrm>
            <a:off x="2319224" y="3408174"/>
            <a:ext cx="13649552" cy="148638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1374"/>
              </a:lnSpc>
            </a:pPr>
            <a:r>
              <a:rPr lang="en-US" sz="10340">
                <a:solidFill>
                  <a:srgbClr val="FFFFFF"/>
                </a:solidFill>
                <a:latin typeface="Forum"/>
                <a:ea typeface="Forum"/>
                <a:cs typeface="Forum"/>
                <a:sym typeface="Forum"/>
              </a:rPr>
              <a:t>SPAM ASSASSIN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3566360" y="5000526"/>
            <a:ext cx="11155280" cy="70548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5739"/>
              </a:lnSpc>
              <a:spcBef>
                <a:spcPct val="0"/>
              </a:spcBef>
            </a:pPr>
            <a:r>
              <a:rPr lang="en-US" sz="4099">
                <a:solidFill>
                  <a:srgbClr val="FFFFFF"/>
                </a:solidFill>
                <a:latin typeface="TT Drugs"/>
                <a:ea typeface="TT Drugs"/>
                <a:cs typeface="TT Drugs"/>
                <a:sym typeface="TT Drugs"/>
              </a:rPr>
              <a:t>CAN WE GRADE MESSAGES???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50">
        <p:fade/>
      </p:transition>
    </mc:Choice>
    <mc:Fallback>
      <p:transition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BDCD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2483111">
            <a:off x="15183806" y="4858923"/>
            <a:ext cx="8681321" cy="7802337"/>
          </a:xfrm>
          <a:custGeom>
            <a:avLst/>
            <a:gdLst/>
            <a:ahLst/>
            <a:cxnLst/>
            <a:rect l="l" t="t" r="r" b="b"/>
            <a:pathLst>
              <a:path w="8681321" h="7802337">
                <a:moveTo>
                  <a:pt x="0" y="0"/>
                </a:moveTo>
                <a:lnTo>
                  <a:pt x="8681321" y="0"/>
                </a:lnTo>
                <a:lnTo>
                  <a:pt x="8681321" y="7802337"/>
                </a:lnTo>
                <a:lnTo>
                  <a:pt x="0" y="780233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Freeform 3"/>
          <p:cNvSpPr/>
          <p:nvPr/>
        </p:nvSpPr>
        <p:spPr>
          <a:xfrm>
            <a:off x="10259281" y="6010480"/>
            <a:ext cx="7288216" cy="7315650"/>
          </a:xfrm>
          <a:custGeom>
            <a:avLst/>
            <a:gdLst/>
            <a:ahLst/>
            <a:cxnLst/>
            <a:rect l="l" t="t" r="r" b="b"/>
            <a:pathLst>
              <a:path w="7288216" h="7315650">
                <a:moveTo>
                  <a:pt x="0" y="0"/>
                </a:moveTo>
                <a:lnTo>
                  <a:pt x="7288216" y="0"/>
                </a:lnTo>
                <a:lnTo>
                  <a:pt x="7288216" y="7315650"/>
                </a:lnTo>
                <a:lnTo>
                  <a:pt x="0" y="731565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TextBox 4"/>
          <p:cNvSpPr txBox="1"/>
          <p:nvPr/>
        </p:nvSpPr>
        <p:spPr>
          <a:xfrm>
            <a:off x="1028700" y="1044803"/>
            <a:ext cx="12388794" cy="8667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720"/>
              </a:lnSpc>
            </a:pPr>
            <a:r>
              <a:rPr lang="en-US" sz="5600" dirty="0">
                <a:solidFill>
                  <a:srgbClr val="0F2A37"/>
                </a:solidFill>
                <a:latin typeface="Forum"/>
                <a:ea typeface="Forum"/>
                <a:cs typeface="Forum"/>
                <a:sym typeface="Forum"/>
              </a:rPr>
              <a:t>SPAM ASSASSIN: </a:t>
            </a:r>
            <a:r>
              <a:rPr lang="en-US" sz="5600" dirty="0" err="1">
                <a:solidFill>
                  <a:srgbClr val="0F2A37"/>
                </a:solidFill>
                <a:latin typeface="Forum"/>
                <a:ea typeface="Forum"/>
                <a:cs typeface="Forum"/>
                <a:sym typeface="Forum"/>
              </a:rPr>
              <a:t>SScore</a:t>
            </a:r>
            <a:r>
              <a:rPr lang="en-US" sz="5600" dirty="0">
                <a:solidFill>
                  <a:srgbClr val="0F2A37"/>
                </a:solidFill>
                <a:latin typeface="Forum"/>
                <a:ea typeface="Forum"/>
                <a:cs typeface="Forum"/>
                <a:sym typeface="Forum"/>
              </a:rPr>
              <a:t> Important Words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028700" y="2918584"/>
            <a:ext cx="6704025" cy="402717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189"/>
              </a:lnSpc>
            </a:pPr>
            <a:r>
              <a:rPr lang="en-US" sz="3499">
                <a:solidFill>
                  <a:srgbClr val="0F2A37"/>
                </a:solidFill>
                <a:latin typeface="TT Drugs"/>
                <a:ea typeface="TT Drugs"/>
                <a:cs typeface="TT Drugs"/>
                <a:sym typeface="TT Drugs"/>
              </a:rPr>
              <a:t>CONGRATULATION: 2.0</a:t>
            </a:r>
          </a:p>
          <a:p>
            <a:pPr algn="l">
              <a:lnSpc>
                <a:spcPts val="8189"/>
              </a:lnSpc>
            </a:pPr>
            <a:r>
              <a:rPr lang="en-US" sz="3499">
                <a:solidFill>
                  <a:srgbClr val="0F2A37"/>
                </a:solidFill>
                <a:latin typeface="TT Drugs"/>
                <a:ea typeface="TT Drugs"/>
                <a:cs typeface="TT Drugs"/>
                <a:sym typeface="TT Drugs"/>
              </a:rPr>
              <a:t>Winning: 1.0</a:t>
            </a:r>
          </a:p>
          <a:p>
            <a:pPr algn="l">
              <a:lnSpc>
                <a:spcPts val="8189"/>
              </a:lnSpc>
            </a:pPr>
            <a:r>
              <a:rPr lang="en-US" sz="3499">
                <a:solidFill>
                  <a:srgbClr val="0F2A37"/>
                </a:solidFill>
                <a:latin typeface="TT Drugs"/>
                <a:ea typeface="TT Drugs"/>
                <a:cs typeface="TT Drugs"/>
                <a:sym typeface="TT Drugs"/>
              </a:rPr>
              <a:t>[Money]: 1.5</a:t>
            </a:r>
          </a:p>
          <a:p>
            <a:pPr algn="l">
              <a:lnSpc>
                <a:spcPts val="8189"/>
              </a:lnSpc>
            </a:pPr>
            <a:r>
              <a:rPr lang="en-US" sz="3499">
                <a:solidFill>
                  <a:srgbClr val="0F2A37"/>
                </a:solidFill>
                <a:latin typeface="TT Drugs"/>
                <a:ea typeface="TT Drugs"/>
                <a:cs typeface="TT Drugs"/>
                <a:sym typeface="TT Drugs"/>
              </a:rPr>
              <a:t>Right now: 1.25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8647520" y="2918584"/>
            <a:ext cx="6704025" cy="298894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189"/>
              </a:lnSpc>
            </a:pPr>
            <a:r>
              <a:rPr lang="en-US" sz="3499" dirty="0">
                <a:solidFill>
                  <a:srgbClr val="0F2A37"/>
                </a:solidFill>
                <a:latin typeface="TT Drugs"/>
                <a:ea typeface="TT Drugs"/>
                <a:cs typeface="TT Drugs"/>
                <a:sym typeface="TT Drugs"/>
              </a:rPr>
              <a:t>Lol / Ayo / Helu / Bye: -1.5</a:t>
            </a:r>
          </a:p>
          <a:p>
            <a:pPr algn="l">
              <a:lnSpc>
                <a:spcPts val="8189"/>
              </a:lnSpc>
            </a:pPr>
            <a:r>
              <a:rPr lang="en-US" sz="3499" dirty="0">
                <a:solidFill>
                  <a:srgbClr val="0F2A37"/>
                </a:solidFill>
                <a:latin typeface="TT Drugs"/>
                <a:ea typeface="TT Drugs"/>
                <a:cs typeface="TT Drugs"/>
                <a:sym typeface="TT Drugs"/>
              </a:rPr>
              <a:t>Dinner / Lunch: -2.0</a:t>
            </a:r>
          </a:p>
          <a:p>
            <a:pPr algn="l">
              <a:lnSpc>
                <a:spcPts val="8189"/>
              </a:lnSpc>
            </a:pPr>
            <a:r>
              <a:rPr lang="en-US" sz="3499" dirty="0">
                <a:solidFill>
                  <a:srgbClr val="0F2A37"/>
                </a:solidFill>
                <a:latin typeface="TT Drugs"/>
                <a:ea typeface="TT Drugs"/>
                <a:cs typeface="TT Drugs"/>
                <a:sym typeface="TT Drugs"/>
              </a:rPr>
              <a:t>Babe / Daughter / Son: -2.5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50">
        <p:fade/>
      </p:transition>
    </mc:Choice>
    <mc:Fallback>
      <p:transition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BDCD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2483111">
            <a:off x="15183806" y="4858923"/>
            <a:ext cx="8681321" cy="7802337"/>
          </a:xfrm>
          <a:custGeom>
            <a:avLst/>
            <a:gdLst/>
            <a:ahLst/>
            <a:cxnLst/>
            <a:rect l="l" t="t" r="r" b="b"/>
            <a:pathLst>
              <a:path w="8681321" h="7802337">
                <a:moveTo>
                  <a:pt x="0" y="0"/>
                </a:moveTo>
                <a:lnTo>
                  <a:pt x="8681321" y="0"/>
                </a:lnTo>
                <a:lnTo>
                  <a:pt x="8681321" y="7802337"/>
                </a:lnTo>
                <a:lnTo>
                  <a:pt x="0" y="780233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Freeform 3"/>
          <p:cNvSpPr/>
          <p:nvPr/>
        </p:nvSpPr>
        <p:spPr>
          <a:xfrm>
            <a:off x="10351732" y="6700408"/>
            <a:ext cx="7288216" cy="7315650"/>
          </a:xfrm>
          <a:custGeom>
            <a:avLst/>
            <a:gdLst/>
            <a:ahLst/>
            <a:cxnLst/>
            <a:rect l="l" t="t" r="r" b="b"/>
            <a:pathLst>
              <a:path w="7288216" h="7315650">
                <a:moveTo>
                  <a:pt x="0" y="0"/>
                </a:moveTo>
                <a:lnTo>
                  <a:pt x="7288216" y="0"/>
                </a:lnTo>
                <a:lnTo>
                  <a:pt x="7288216" y="7315650"/>
                </a:lnTo>
                <a:lnTo>
                  <a:pt x="0" y="731565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TextBox 4"/>
          <p:cNvSpPr txBox="1"/>
          <p:nvPr/>
        </p:nvSpPr>
        <p:spPr>
          <a:xfrm>
            <a:off x="1028700" y="1044803"/>
            <a:ext cx="12388794" cy="8667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720"/>
              </a:lnSpc>
            </a:pPr>
            <a:r>
              <a:rPr lang="en-US" sz="5600">
                <a:solidFill>
                  <a:srgbClr val="0F2A37"/>
                </a:solidFill>
                <a:latin typeface="Forum"/>
                <a:ea typeface="Forum"/>
                <a:cs typeface="Forum"/>
                <a:sym typeface="Forum"/>
              </a:rPr>
              <a:t>SPAM ASSASSIN: Score Important Words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028700" y="2909059"/>
            <a:ext cx="6704025" cy="301815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259"/>
              </a:lnSpc>
            </a:pPr>
            <a:r>
              <a:rPr lang="en-US" sz="3499">
                <a:solidFill>
                  <a:srgbClr val="0F2A37"/>
                </a:solidFill>
                <a:latin typeface="TT Drugs"/>
                <a:ea typeface="TT Drugs"/>
                <a:cs typeface="TT Drugs"/>
                <a:sym typeface="TT Drugs"/>
              </a:rPr>
              <a:t>CONGRATULATION: 2.0</a:t>
            </a:r>
          </a:p>
          <a:p>
            <a:pPr algn="l">
              <a:lnSpc>
                <a:spcPts val="8259"/>
              </a:lnSpc>
            </a:pPr>
            <a:r>
              <a:rPr lang="en-US" sz="3499">
                <a:solidFill>
                  <a:srgbClr val="0F2A37"/>
                </a:solidFill>
                <a:latin typeface="TT Drugs"/>
                <a:ea typeface="TT Drugs"/>
                <a:cs typeface="TT Drugs"/>
                <a:sym typeface="TT Drugs"/>
              </a:rPr>
              <a:t>Winning: 1.0</a:t>
            </a:r>
          </a:p>
          <a:p>
            <a:pPr algn="l">
              <a:lnSpc>
                <a:spcPts val="8259"/>
              </a:lnSpc>
            </a:pPr>
            <a:endParaRPr lang="en-US" sz="3499">
              <a:solidFill>
                <a:srgbClr val="0F2A37"/>
              </a:solidFill>
              <a:latin typeface="TT Drugs"/>
              <a:ea typeface="TT Drugs"/>
              <a:cs typeface="TT Drugs"/>
              <a:sym typeface="TT Drugs"/>
            </a:endParaRPr>
          </a:p>
        </p:txBody>
      </p:sp>
      <p:sp>
        <p:nvSpPr>
          <p:cNvPr id="6" name="TextBox 6"/>
          <p:cNvSpPr txBox="1"/>
          <p:nvPr/>
        </p:nvSpPr>
        <p:spPr>
          <a:xfrm>
            <a:off x="8647520" y="2909059"/>
            <a:ext cx="6704025" cy="301815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259"/>
              </a:lnSpc>
            </a:pPr>
            <a:r>
              <a:rPr lang="en-US" sz="3499" dirty="0">
                <a:solidFill>
                  <a:srgbClr val="0F2A37"/>
                </a:solidFill>
                <a:latin typeface="TT Drugs"/>
                <a:ea typeface="TT Drugs"/>
                <a:cs typeface="TT Drugs"/>
                <a:sym typeface="TT Drugs"/>
              </a:rPr>
              <a:t>Lol / Ayo / Helu / Bye: -1.5</a:t>
            </a:r>
          </a:p>
          <a:p>
            <a:pPr algn="l">
              <a:lnSpc>
                <a:spcPts val="8259"/>
              </a:lnSpc>
            </a:pPr>
            <a:r>
              <a:rPr lang="en-US" sz="3499" dirty="0">
                <a:solidFill>
                  <a:srgbClr val="0F2A37"/>
                </a:solidFill>
                <a:latin typeface="TT Drugs"/>
                <a:ea typeface="TT Drugs"/>
                <a:cs typeface="TT Drugs"/>
                <a:sym typeface="TT Drugs"/>
              </a:rPr>
              <a:t>Dinner / Lunch: -2.0</a:t>
            </a:r>
          </a:p>
          <a:p>
            <a:pPr algn="l">
              <a:lnSpc>
                <a:spcPts val="8259"/>
              </a:lnSpc>
            </a:pPr>
            <a:endParaRPr lang="en-US" sz="3499" dirty="0">
              <a:solidFill>
                <a:srgbClr val="0F2A37"/>
              </a:solidFill>
              <a:latin typeface="TT Drugs"/>
              <a:ea typeface="TT Drugs"/>
              <a:cs typeface="TT Drugs"/>
              <a:sym typeface="TT Drugs"/>
            </a:endParaRPr>
          </a:p>
        </p:txBody>
      </p:sp>
      <p:sp>
        <p:nvSpPr>
          <p:cNvPr id="7" name="TextBox 7"/>
          <p:cNvSpPr txBox="1"/>
          <p:nvPr/>
        </p:nvSpPr>
        <p:spPr>
          <a:xfrm>
            <a:off x="1028700" y="5560092"/>
            <a:ext cx="10970833" cy="16179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684"/>
              </a:lnSpc>
            </a:pPr>
            <a:r>
              <a:rPr lang="en-US" sz="3499">
                <a:solidFill>
                  <a:srgbClr val="0F2A37"/>
                </a:solidFill>
                <a:latin typeface="TT Drugs"/>
                <a:ea typeface="TT Drugs"/>
                <a:cs typeface="TT Drugs"/>
                <a:sym typeface="TT Drugs"/>
              </a:rPr>
              <a:t>CALCULATING the score </a:t>
            </a:r>
            <a:r>
              <a:rPr lang="en-US" sz="3499">
                <a:solidFill>
                  <a:srgbClr val="FF3131"/>
                </a:solidFill>
                <a:latin typeface="TT Drugs"/>
                <a:ea typeface="TT Drugs"/>
                <a:cs typeface="TT Drugs"/>
                <a:sym typeface="TT Drugs"/>
              </a:rPr>
              <a:t>IS AN ART</a:t>
            </a:r>
          </a:p>
          <a:p>
            <a:pPr algn="l">
              <a:lnSpc>
                <a:spcPts val="6684"/>
              </a:lnSpc>
            </a:pPr>
            <a:r>
              <a:rPr lang="en-US" sz="3499">
                <a:solidFill>
                  <a:srgbClr val="0F2A37"/>
                </a:solidFill>
                <a:latin typeface="TT Drugs"/>
                <a:ea typeface="TT Drugs"/>
                <a:cs typeface="TT Drugs"/>
                <a:sym typeface="TT Drugs"/>
              </a:rPr>
              <a:t>(COMBINE complicated </a:t>
            </a:r>
            <a:r>
              <a:rPr lang="en-US" sz="3499" b="1">
                <a:solidFill>
                  <a:srgbClr val="0F2A37"/>
                </a:solidFill>
                <a:latin typeface="TT Drugs Bold"/>
                <a:ea typeface="TT Drugs Bold"/>
                <a:cs typeface="TT Drugs Bold"/>
                <a:sym typeface="TT Drugs Bold"/>
              </a:rPr>
              <a:t>algorithms &amp; techniques </a:t>
            </a:r>
            <a:r>
              <a:rPr lang="en-US" sz="3499">
                <a:solidFill>
                  <a:srgbClr val="0F2A37"/>
                </a:solidFill>
                <a:latin typeface="TT Drugs"/>
                <a:ea typeface="TT Drugs"/>
                <a:cs typeface="TT Drugs"/>
                <a:sym typeface="TT Drugs"/>
              </a:rPr>
              <a:t>)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50">
        <p:fade/>
      </p:transition>
    </mc:Choice>
    <mc:Fallback>
      <p:transition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BDCD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2483111">
            <a:off x="15183806" y="4858923"/>
            <a:ext cx="8681321" cy="7802337"/>
          </a:xfrm>
          <a:custGeom>
            <a:avLst/>
            <a:gdLst/>
            <a:ahLst/>
            <a:cxnLst/>
            <a:rect l="l" t="t" r="r" b="b"/>
            <a:pathLst>
              <a:path w="8681321" h="7802337">
                <a:moveTo>
                  <a:pt x="0" y="0"/>
                </a:moveTo>
                <a:lnTo>
                  <a:pt x="8681321" y="0"/>
                </a:lnTo>
                <a:lnTo>
                  <a:pt x="8681321" y="7802337"/>
                </a:lnTo>
                <a:lnTo>
                  <a:pt x="0" y="780233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TextBox 3"/>
          <p:cNvSpPr txBox="1"/>
          <p:nvPr/>
        </p:nvSpPr>
        <p:spPr>
          <a:xfrm>
            <a:off x="1028700" y="1044803"/>
            <a:ext cx="12388794" cy="8667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720"/>
              </a:lnSpc>
            </a:pPr>
            <a:r>
              <a:rPr lang="en-US" sz="5600">
                <a:solidFill>
                  <a:srgbClr val="0F2A37"/>
                </a:solidFill>
                <a:latin typeface="Forum"/>
                <a:ea typeface="Forum"/>
                <a:cs typeface="Forum"/>
                <a:sym typeface="Forum"/>
              </a:rPr>
              <a:t>SPAM ASSASSIN: Score &lt; 5 is good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028700" y="2928109"/>
            <a:ext cx="15640662" cy="29400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049"/>
              </a:lnSpc>
            </a:pPr>
            <a:r>
              <a:rPr lang="en-US" sz="3499">
                <a:solidFill>
                  <a:srgbClr val="FF3131"/>
                </a:solidFill>
                <a:latin typeface="TT Drugs"/>
                <a:ea typeface="TT Drugs"/>
                <a:cs typeface="TT Drugs"/>
                <a:sym typeface="TT Drugs"/>
              </a:rPr>
              <a:t>CONGRATULATIONS(2.5)</a:t>
            </a:r>
            <a:r>
              <a:rPr lang="en-US" sz="3499">
                <a:solidFill>
                  <a:srgbClr val="0F2A37"/>
                </a:solidFill>
                <a:latin typeface="TT Drugs"/>
                <a:ea typeface="TT Drugs"/>
                <a:cs typeface="TT Drugs"/>
                <a:sym typeface="TT Drugs"/>
              </a:rPr>
              <a:t> on </a:t>
            </a:r>
            <a:r>
              <a:rPr lang="en-US" sz="3499">
                <a:solidFill>
                  <a:srgbClr val="FF3131"/>
                </a:solidFill>
                <a:latin typeface="TT Drugs"/>
                <a:ea typeface="TT Drugs"/>
                <a:cs typeface="TT Drugs"/>
                <a:sym typeface="TT Drugs"/>
              </a:rPr>
              <a:t>WINNING(1.0),</a:t>
            </a:r>
            <a:r>
              <a:rPr lang="en-US" sz="3499">
                <a:solidFill>
                  <a:srgbClr val="0F2A37"/>
                </a:solidFill>
                <a:latin typeface="TT Drugs"/>
                <a:ea typeface="TT Drugs"/>
                <a:cs typeface="TT Drugs"/>
                <a:sym typeface="TT Drugs"/>
              </a:rPr>
              <a:t> </a:t>
            </a:r>
            <a:r>
              <a:rPr lang="en-US" sz="3499">
                <a:solidFill>
                  <a:srgbClr val="5E17EB"/>
                </a:solidFill>
                <a:latin typeface="TT Drugs"/>
                <a:ea typeface="TT Drugs"/>
                <a:cs typeface="TT Drugs"/>
                <a:sym typeface="TT Drugs"/>
              </a:rPr>
              <a:t>daughter(-2.5)</a:t>
            </a:r>
            <a:r>
              <a:rPr lang="en-US" sz="3499">
                <a:solidFill>
                  <a:srgbClr val="0F2A37"/>
                </a:solidFill>
                <a:latin typeface="TT Drugs"/>
                <a:ea typeface="TT Drugs"/>
                <a:cs typeface="TT Drugs"/>
                <a:sym typeface="TT Drugs"/>
              </a:rPr>
              <a:t>!!! I’m so proud of you. Imma bank you </a:t>
            </a:r>
            <a:r>
              <a:rPr lang="en-US" sz="3499">
                <a:solidFill>
                  <a:srgbClr val="FF3131"/>
                </a:solidFill>
                <a:latin typeface="TT Drugs"/>
                <a:ea typeface="TT Drugs"/>
                <a:cs typeface="TT Drugs"/>
                <a:sym typeface="TT Drugs"/>
              </a:rPr>
              <a:t>1000$(1.0)</a:t>
            </a:r>
            <a:r>
              <a:rPr lang="en-US" sz="3499">
                <a:solidFill>
                  <a:srgbClr val="0F2A37"/>
                </a:solidFill>
                <a:latin typeface="TT Drugs"/>
                <a:ea typeface="TT Drugs"/>
                <a:cs typeface="TT Drugs"/>
                <a:sym typeface="TT Drugs"/>
              </a:rPr>
              <a:t> </a:t>
            </a:r>
            <a:r>
              <a:rPr lang="en-US" sz="3499">
                <a:solidFill>
                  <a:srgbClr val="FF3131"/>
                </a:solidFill>
                <a:latin typeface="TT Drugs"/>
                <a:ea typeface="TT Drugs"/>
                <a:cs typeface="TT Drugs"/>
                <a:sym typeface="TT Drugs"/>
              </a:rPr>
              <a:t>IMMEDIATELY(0.5)</a:t>
            </a:r>
            <a:r>
              <a:rPr lang="en-US" sz="3499">
                <a:solidFill>
                  <a:srgbClr val="0F2A37"/>
                </a:solidFill>
                <a:latin typeface="TT Drugs"/>
                <a:ea typeface="TT Drugs"/>
                <a:cs typeface="TT Drugs"/>
                <a:sym typeface="TT Drugs"/>
              </a:rPr>
              <a:t> for </a:t>
            </a:r>
            <a:r>
              <a:rPr lang="en-US" sz="3499">
                <a:solidFill>
                  <a:srgbClr val="5E17EB"/>
                </a:solidFill>
                <a:latin typeface="TT Drugs"/>
                <a:ea typeface="TT Drugs"/>
                <a:cs typeface="TT Drugs"/>
                <a:sym typeface="TT Drugs"/>
              </a:rPr>
              <a:t>dinner(-2.0)</a:t>
            </a:r>
            <a:r>
              <a:rPr lang="en-US" sz="3499">
                <a:solidFill>
                  <a:srgbClr val="0F2A37"/>
                </a:solidFill>
                <a:latin typeface="TT Drugs"/>
                <a:ea typeface="TT Drugs"/>
                <a:cs typeface="TT Drugs"/>
                <a:sym typeface="TT Drugs"/>
              </a:rPr>
              <a:t>!!!</a:t>
            </a:r>
          </a:p>
          <a:p>
            <a:pPr algn="l">
              <a:lnSpc>
                <a:spcPts val="8049"/>
              </a:lnSpc>
            </a:pPr>
            <a:endParaRPr lang="en-US" sz="3499">
              <a:solidFill>
                <a:srgbClr val="0F2A37"/>
              </a:solidFill>
              <a:latin typeface="TT Drugs"/>
              <a:ea typeface="TT Drugs"/>
              <a:cs typeface="TT Drugs"/>
              <a:sym typeface="TT Drugs"/>
            </a:endParaRPr>
          </a:p>
        </p:txBody>
      </p:sp>
      <p:sp>
        <p:nvSpPr>
          <p:cNvPr id="5" name="TextBox 5"/>
          <p:cNvSpPr txBox="1"/>
          <p:nvPr/>
        </p:nvSpPr>
        <p:spPr>
          <a:xfrm>
            <a:off x="1028700" y="5815354"/>
            <a:ext cx="12388794" cy="195072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189"/>
              </a:lnSpc>
            </a:pPr>
            <a:r>
              <a:rPr lang="en-US" sz="3499" dirty="0">
                <a:solidFill>
                  <a:srgbClr val="0F2A37"/>
                </a:solidFill>
                <a:latin typeface="TT Drugs"/>
                <a:ea typeface="TT Drugs"/>
                <a:cs typeface="TT Drugs"/>
                <a:sym typeface="TT Drugs"/>
              </a:rPr>
              <a:t>MACHINE: 2.5 + 1.0 …. - 2.0 = 0.5 </a:t>
            </a:r>
            <a:r>
              <a:rPr lang="en-US" sz="3499" dirty="0">
                <a:solidFill>
                  <a:srgbClr val="0F2A37"/>
                </a:solidFill>
                <a:latin typeface="TT Drugs"/>
                <a:ea typeface="TT Drugs"/>
                <a:cs typeface="TT Drugs"/>
                <a:sym typeface="Wingdings" panose="05000000000000000000" pitchFamily="2" charset="2"/>
              </a:rPr>
              <a:t></a:t>
            </a:r>
            <a:r>
              <a:rPr lang="en-US" sz="3499" dirty="0">
                <a:solidFill>
                  <a:srgbClr val="0F2A37"/>
                </a:solidFill>
                <a:latin typeface="TT Drugs"/>
                <a:ea typeface="TT Drugs"/>
                <a:cs typeface="TT Drugs"/>
                <a:sym typeface="TT Drugs"/>
              </a:rPr>
              <a:t> 0. 5 &lt; 5 </a:t>
            </a:r>
            <a:r>
              <a:rPr lang="en-US" sz="3499" dirty="0">
                <a:solidFill>
                  <a:srgbClr val="0F2A37"/>
                </a:solidFill>
                <a:latin typeface="TT Drugs"/>
                <a:ea typeface="TT Drugs"/>
                <a:cs typeface="TT Drugs"/>
                <a:sym typeface="Wingdings" panose="05000000000000000000" pitchFamily="2" charset="2"/>
              </a:rPr>
              <a:t> </a:t>
            </a:r>
            <a:r>
              <a:rPr lang="en-US" sz="3499" dirty="0">
                <a:solidFill>
                  <a:srgbClr val="0F2A37"/>
                </a:solidFill>
                <a:latin typeface="TT Drugs"/>
                <a:ea typeface="TT Drugs"/>
                <a:cs typeface="TT Drugs"/>
                <a:sym typeface="TT Drugs"/>
              </a:rPr>
              <a:t>NOT SCAM </a:t>
            </a:r>
          </a:p>
          <a:p>
            <a:pPr algn="l">
              <a:lnSpc>
                <a:spcPts val="8189"/>
              </a:lnSpc>
            </a:pPr>
            <a:r>
              <a:rPr lang="en-US" sz="3499" dirty="0">
                <a:solidFill>
                  <a:srgbClr val="0F2A37"/>
                </a:solidFill>
                <a:latin typeface="TT Drugs"/>
                <a:ea typeface="TT Drugs"/>
                <a:cs typeface="TT Drugs"/>
                <a:sym typeface="TT Drugs"/>
              </a:rPr>
              <a:t>(</a:t>
            </a:r>
            <a:r>
              <a:rPr lang="en-US" sz="3499" dirty="0" err="1">
                <a:solidFill>
                  <a:srgbClr val="0F2A37"/>
                </a:solidFill>
                <a:latin typeface="TT Drugs"/>
                <a:ea typeface="TT Drugs"/>
                <a:cs typeface="TT Drugs"/>
                <a:sym typeface="TT Drugs"/>
              </a:rPr>
              <a:t>Daugher</a:t>
            </a:r>
            <a:r>
              <a:rPr lang="en-US" sz="3499" dirty="0">
                <a:solidFill>
                  <a:srgbClr val="0F2A37"/>
                </a:solidFill>
                <a:latin typeface="TT Drugs"/>
                <a:ea typeface="TT Drugs"/>
                <a:cs typeface="TT Drugs"/>
                <a:sym typeface="TT Drugs"/>
              </a:rPr>
              <a:t> gets1000$ from Dad for dinner: YAYYYYY)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50">
        <p:fade/>
      </p:transition>
    </mc:Choice>
    <mc:Fallback>
      <p:transition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D769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8687688">
            <a:off x="10282257" y="5034286"/>
            <a:ext cx="8922358" cy="9404330"/>
          </a:xfrm>
          <a:custGeom>
            <a:avLst/>
            <a:gdLst/>
            <a:ahLst/>
            <a:cxnLst/>
            <a:rect l="l" t="t" r="r" b="b"/>
            <a:pathLst>
              <a:path w="8922358" h="9404330">
                <a:moveTo>
                  <a:pt x="0" y="0"/>
                </a:moveTo>
                <a:lnTo>
                  <a:pt x="8922358" y="0"/>
                </a:lnTo>
                <a:lnTo>
                  <a:pt x="8922358" y="9404330"/>
                </a:lnTo>
                <a:lnTo>
                  <a:pt x="0" y="940433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Freeform 3"/>
          <p:cNvSpPr/>
          <p:nvPr/>
        </p:nvSpPr>
        <p:spPr>
          <a:xfrm rot="-10013544">
            <a:off x="-1834628" y="-2396987"/>
            <a:ext cx="8825308" cy="8229600"/>
          </a:xfrm>
          <a:custGeom>
            <a:avLst/>
            <a:gdLst/>
            <a:ahLst/>
            <a:cxnLst/>
            <a:rect l="l" t="t" r="r" b="b"/>
            <a:pathLst>
              <a:path w="8825308" h="8229600">
                <a:moveTo>
                  <a:pt x="0" y="0"/>
                </a:moveTo>
                <a:lnTo>
                  <a:pt x="8825308" y="0"/>
                </a:lnTo>
                <a:lnTo>
                  <a:pt x="8825308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TextBox 4"/>
          <p:cNvSpPr txBox="1"/>
          <p:nvPr/>
        </p:nvSpPr>
        <p:spPr>
          <a:xfrm>
            <a:off x="2319224" y="3408174"/>
            <a:ext cx="13649552" cy="148638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1374"/>
              </a:lnSpc>
            </a:pPr>
            <a:r>
              <a:rPr lang="en-US" sz="10340">
                <a:solidFill>
                  <a:srgbClr val="FFFFFF"/>
                </a:solidFill>
                <a:latin typeface="Forum"/>
                <a:ea typeface="Forum"/>
                <a:cs typeface="Forum"/>
                <a:sym typeface="Forum"/>
              </a:rPr>
              <a:t>TF - IDF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3024565" y="5057775"/>
            <a:ext cx="12238870" cy="70548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5739"/>
              </a:lnSpc>
              <a:spcBef>
                <a:spcPct val="0"/>
              </a:spcBef>
            </a:pPr>
            <a:r>
              <a:rPr lang="en-US" sz="4099">
                <a:solidFill>
                  <a:srgbClr val="FFFFFF"/>
                </a:solidFill>
                <a:latin typeface="TT Drugs"/>
                <a:ea typeface="TT Drugs"/>
                <a:cs typeface="TT Drugs"/>
                <a:sym typeface="TT Drugs"/>
              </a:rPr>
              <a:t>WHAT IF WE COULD TURN TEXT TO NUMBERS?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50">
        <p:fade/>
      </p:transition>
    </mc:Choice>
    <mc:Fallback>
      <p:transition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BDCD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2483111">
            <a:off x="15183806" y="4858923"/>
            <a:ext cx="8681321" cy="7802337"/>
          </a:xfrm>
          <a:custGeom>
            <a:avLst/>
            <a:gdLst/>
            <a:ahLst/>
            <a:cxnLst/>
            <a:rect l="l" t="t" r="r" b="b"/>
            <a:pathLst>
              <a:path w="8681321" h="7802337">
                <a:moveTo>
                  <a:pt x="0" y="0"/>
                </a:moveTo>
                <a:lnTo>
                  <a:pt x="8681321" y="0"/>
                </a:lnTo>
                <a:lnTo>
                  <a:pt x="8681321" y="7802337"/>
                </a:lnTo>
                <a:lnTo>
                  <a:pt x="0" y="780233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Freeform 3"/>
          <p:cNvSpPr/>
          <p:nvPr/>
        </p:nvSpPr>
        <p:spPr>
          <a:xfrm>
            <a:off x="11691628" y="6647022"/>
            <a:ext cx="7288216" cy="7315650"/>
          </a:xfrm>
          <a:custGeom>
            <a:avLst/>
            <a:gdLst/>
            <a:ahLst/>
            <a:cxnLst/>
            <a:rect l="l" t="t" r="r" b="b"/>
            <a:pathLst>
              <a:path w="7288216" h="7315650">
                <a:moveTo>
                  <a:pt x="0" y="0"/>
                </a:moveTo>
                <a:lnTo>
                  <a:pt x="7288216" y="0"/>
                </a:lnTo>
                <a:lnTo>
                  <a:pt x="7288216" y="7315649"/>
                </a:lnTo>
                <a:lnTo>
                  <a:pt x="0" y="731564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Freeform 4"/>
          <p:cNvSpPr/>
          <p:nvPr/>
        </p:nvSpPr>
        <p:spPr>
          <a:xfrm>
            <a:off x="1028700" y="2593695"/>
            <a:ext cx="14611834" cy="1777115"/>
          </a:xfrm>
          <a:custGeom>
            <a:avLst/>
            <a:gdLst/>
            <a:ahLst/>
            <a:cxnLst/>
            <a:rect l="l" t="t" r="r" b="b"/>
            <a:pathLst>
              <a:path w="14611834" h="1777115">
                <a:moveTo>
                  <a:pt x="0" y="0"/>
                </a:moveTo>
                <a:lnTo>
                  <a:pt x="14611834" y="0"/>
                </a:lnTo>
                <a:lnTo>
                  <a:pt x="14611834" y="1777115"/>
                </a:lnTo>
                <a:lnTo>
                  <a:pt x="0" y="177711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5" name="Freeform 5"/>
          <p:cNvSpPr/>
          <p:nvPr/>
        </p:nvSpPr>
        <p:spPr>
          <a:xfrm>
            <a:off x="1028700" y="5143500"/>
            <a:ext cx="12881012" cy="1503522"/>
          </a:xfrm>
          <a:custGeom>
            <a:avLst/>
            <a:gdLst/>
            <a:ahLst/>
            <a:cxnLst/>
            <a:rect l="l" t="t" r="r" b="b"/>
            <a:pathLst>
              <a:path w="12881012" h="1503522">
                <a:moveTo>
                  <a:pt x="0" y="0"/>
                </a:moveTo>
                <a:lnTo>
                  <a:pt x="12881012" y="0"/>
                </a:lnTo>
                <a:lnTo>
                  <a:pt x="12881012" y="1503522"/>
                </a:lnTo>
                <a:lnTo>
                  <a:pt x="0" y="1503522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r="-13592" b="-8507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6" name="TextBox 6"/>
          <p:cNvSpPr txBox="1"/>
          <p:nvPr/>
        </p:nvSpPr>
        <p:spPr>
          <a:xfrm>
            <a:off x="1028700" y="1054328"/>
            <a:ext cx="14792598" cy="18474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284"/>
              </a:lnSpc>
            </a:pPr>
            <a:r>
              <a:rPr lang="en-US" sz="6070">
                <a:solidFill>
                  <a:srgbClr val="0F2A37"/>
                </a:solidFill>
                <a:latin typeface="Forum"/>
                <a:ea typeface="Forum"/>
                <a:cs typeface="Forum"/>
                <a:sym typeface="Forum"/>
              </a:rPr>
              <a:t>TF-IDF: Term Freq. - Inverse Document Freq.</a:t>
            </a:r>
          </a:p>
          <a:p>
            <a:pPr algn="l">
              <a:lnSpc>
                <a:spcPts val="7284"/>
              </a:lnSpc>
            </a:pPr>
            <a:endParaRPr lang="en-US" sz="6070">
              <a:solidFill>
                <a:srgbClr val="0F2A37"/>
              </a:solidFill>
              <a:latin typeface="Forum"/>
              <a:ea typeface="Forum"/>
              <a:cs typeface="Forum"/>
              <a:sym typeface="Forum"/>
            </a:endParaRPr>
          </a:p>
        </p:txBody>
      </p:sp>
      <p:sp>
        <p:nvSpPr>
          <p:cNvPr id="7" name="TextBox 7"/>
          <p:cNvSpPr txBox="1"/>
          <p:nvPr/>
        </p:nvSpPr>
        <p:spPr>
          <a:xfrm>
            <a:off x="1028700" y="7530268"/>
            <a:ext cx="11601071" cy="9359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539"/>
              </a:lnSpc>
              <a:spcBef>
                <a:spcPct val="0"/>
              </a:spcBef>
            </a:pPr>
            <a:r>
              <a:rPr lang="en-US" sz="5799" b="1">
                <a:solidFill>
                  <a:srgbClr val="FF3131"/>
                </a:solidFill>
                <a:latin typeface="TT Drugs Bold"/>
                <a:ea typeface="TT Drugs Bold"/>
                <a:cs typeface="TT Drugs Bold"/>
                <a:sym typeface="TT Drugs Bold"/>
              </a:rPr>
              <a:t>TF-IDF(t, d, D) = TF X IDF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50">
        <p:fade/>
      </p:transition>
    </mc:Choice>
    <mc:Fallback>
      <p:transition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BDCD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2483111">
            <a:off x="15183806" y="4858923"/>
            <a:ext cx="8681321" cy="7802337"/>
          </a:xfrm>
          <a:custGeom>
            <a:avLst/>
            <a:gdLst/>
            <a:ahLst/>
            <a:cxnLst/>
            <a:rect l="l" t="t" r="r" b="b"/>
            <a:pathLst>
              <a:path w="8681321" h="7802337">
                <a:moveTo>
                  <a:pt x="0" y="0"/>
                </a:moveTo>
                <a:lnTo>
                  <a:pt x="8681321" y="0"/>
                </a:lnTo>
                <a:lnTo>
                  <a:pt x="8681321" y="7802337"/>
                </a:lnTo>
                <a:lnTo>
                  <a:pt x="0" y="780233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Freeform 3"/>
          <p:cNvSpPr/>
          <p:nvPr/>
        </p:nvSpPr>
        <p:spPr>
          <a:xfrm>
            <a:off x="10259281" y="6010480"/>
            <a:ext cx="7288216" cy="7315650"/>
          </a:xfrm>
          <a:custGeom>
            <a:avLst/>
            <a:gdLst/>
            <a:ahLst/>
            <a:cxnLst/>
            <a:rect l="l" t="t" r="r" b="b"/>
            <a:pathLst>
              <a:path w="7288216" h="7315650">
                <a:moveTo>
                  <a:pt x="0" y="0"/>
                </a:moveTo>
                <a:lnTo>
                  <a:pt x="7288216" y="0"/>
                </a:lnTo>
                <a:lnTo>
                  <a:pt x="7288216" y="7315650"/>
                </a:lnTo>
                <a:lnTo>
                  <a:pt x="0" y="731565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TextBox 4"/>
          <p:cNvSpPr txBox="1"/>
          <p:nvPr/>
        </p:nvSpPr>
        <p:spPr>
          <a:xfrm>
            <a:off x="1028700" y="1054328"/>
            <a:ext cx="14792598" cy="18474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284"/>
              </a:lnSpc>
            </a:pPr>
            <a:r>
              <a:rPr lang="en-US" sz="6070">
                <a:solidFill>
                  <a:srgbClr val="0F2A37"/>
                </a:solidFill>
                <a:latin typeface="Forum"/>
                <a:ea typeface="Forum"/>
                <a:cs typeface="Forum"/>
                <a:sym typeface="Forum"/>
              </a:rPr>
              <a:t>TF-IDF: Term Freq. - Inverse Document Freq.</a:t>
            </a:r>
          </a:p>
          <a:p>
            <a:pPr algn="l">
              <a:lnSpc>
                <a:spcPts val="7284"/>
              </a:lnSpc>
            </a:pPr>
            <a:endParaRPr lang="en-US" sz="6070">
              <a:solidFill>
                <a:srgbClr val="0F2A37"/>
              </a:solidFill>
              <a:latin typeface="Forum"/>
              <a:ea typeface="Forum"/>
              <a:cs typeface="Forum"/>
              <a:sym typeface="Forum"/>
            </a:endParaRPr>
          </a:p>
        </p:txBody>
      </p:sp>
      <p:sp>
        <p:nvSpPr>
          <p:cNvPr id="5" name="TextBox 5"/>
          <p:cNvSpPr txBox="1"/>
          <p:nvPr/>
        </p:nvSpPr>
        <p:spPr>
          <a:xfrm>
            <a:off x="1028700" y="2164025"/>
            <a:ext cx="16518797" cy="55398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999"/>
              </a:lnSpc>
            </a:pPr>
            <a:r>
              <a:rPr lang="en-US" sz="3912">
                <a:solidFill>
                  <a:srgbClr val="0F2A37"/>
                </a:solidFill>
                <a:latin typeface="TT Drugs"/>
                <a:ea typeface="TT Drugs"/>
                <a:cs typeface="TT Drugs"/>
                <a:sym typeface="TT Drugs"/>
              </a:rPr>
              <a:t>Document 1: “Claim the FREE prize now!”</a:t>
            </a:r>
          </a:p>
          <a:p>
            <a:pPr algn="l">
              <a:lnSpc>
                <a:spcPts val="8999"/>
              </a:lnSpc>
            </a:pPr>
            <a:r>
              <a:rPr lang="en-US" sz="3912">
                <a:solidFill>
                  <a:srgbClr val="0F2A37"/>
                </a:solidFill>
                <a:latin typeface="TT Drugs"/>
                <a:ea typeface="TT Drugs"/>
                <a:cs typeface="TT Drugs"/>
                <a:sym typeface="TT Drugs"/>
              </a:rPr>
              <a:t>Document 2: “You just won a FREE holiday to Hawaii”</a:t>
            </a:r>
          </a:p>
          <a:p>
            <a:pPr algn="l">
              <a:lnSpc>
                <a:spcPts val="8999"/>
              </a:lnSpc>
            </a:pPr>
            <a:r>
              <a:rPr lang="en-US" sz="3912">
                <a:solidFill>
                  <a:srgbClr val="0F2A37"/>
                </a:solidFill>
                <a:latin typeface="TT Drugs"/>
                <a:ea typeface="TT Drugs"/>
                <a:cs typeface="TT Drugs"/>
                <a:sym typeface="TT Drugs"/>
              </a:rPr>
              <a:t>Document 3: “Reply to this message to receive an Iphone 18 Pro max”</a:t>
            </a:r>
          </a:p>
          <a:p>
            <a:pPr algn="l">
              <a:lnSpc>
                <a:spcPts val="8999"/>
              </a:lnSpc>
            </a:pPr>
            <a:endParaRPr lang="en-US" sz="3912">
              <a:solidFill>
                <a:srgbClr val="0F2A37"/>
              </a:solidFill>
              <a:latin typeface="TT Drugs"/>
              <a:ea typeface="TT Drugs"/>
              <a:cs typeface="TT Drugs"/>
              <a:sym typeface="TT Drugs"/>
            </a:endParaRPr>
          </a:p>
          <a:p>
            <a:pPr algn="l">
              <a:lnSpc>
                <a:spcPts val="8999"/>
              </a:lnSpc>
            </a:pPr>
            <a:endParaRPr lang="en-US" sz="3912">
              <a:solidFill>
                <a:srgbClr val="0F2A37"/>
              </a:solidFill>
              <a:latin typeface="TT Drugs"/>
              <a:ea typeface="TT Drugs"/>
              <a:cs typeface="TT Drugs"/>
              <a:sym typeface="TT Drug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50">
        <p:fade/>
      </p:transition>
    </mc:Choice>
    <mc:Fallback>
      <p:transition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BDCD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2483111">
            <a:off x="15183806" y="4858923"/>
            <a:ext cx="8681321" cy="7802337"/>
          </a:xfrm>
          <a:custGeom>
            <a:avLst/>
            <a:gdLst/>
            <a:ahLst/>
            <a:cxnLst/>
            <a:rect l="l" t="t" r="r" b="b"/>
            <a:pathLst>
              <a:path w="8681321" h="7802337">
                <a:moveTo>
                  <a:pt x="0" y="0"/>
                </a:moveTo>
                <a:lnTo>
                  <a:pt x="8681321" y="0"/>
                </a:lnTo>
                <a:lnTo>
                  <a:pt x="8681321" y="7802337"/>
                </a:lnTo>
                <a:lnTo>
                  <a:pt x="0" y="780233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Freeform 3"/>
          <p:cNvSpPr/>
          <p:nvPr/>
        </p:nvSpPr>
        <p:spPr>
          <a:xfrm>
            <a:off x="15104315" y="6473226"/>
            <a:ext cx="7288216" cy="7315650"/>
          </a:xfrm>
          <a:custGeom>
            <a:avLst/>
            <a:gdLst/>
            <a:ahLst/>
            <a:cxnLst/>
            <a:rect l="l" t="t" r="r" b="b"/>
            <a:pathLst>
              <a:path w="7288216" h="7315650">
                <a:moveTo>
                  <a:pt x="0" y="0"/>
                </a:moveTo>
                <a:lnTo>
                  <a:pt x="7288216" y="0"/>
                </a:lnTo>
                <a:lnTo>
                  <a:pt x="7288216" y="7315650"/>
                </a:lnTo>
                <a:lnTo>
                  <a:pt x="0" y="731565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TextBox 4"/>
          <p:cNvSpPr txBox="1"/>
          <p:nvPr/>
        </p:nvSpPr>
        <p:spPr>
          <a:xfrm>
            <a:off x="1028700" y="1054328"/>
            <a:ext cx="14792598" cy="18474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284"/>
              </a:lnSpc>
            </a:pPr>
            <a:r>
              <a:rPr lang="en-US" sz="6070">
                <a:solidFill>
                  <a:srgbClr val="0F2A37"/>
                </a:solidFill>
                <a:latin typeface="Forum"/>
                <a:ea typeface="Forum"/>
                <a:cs typeface="Forum"/>
                <a:sym typeface="Forum"/>
              </a:rPr>
              <a:t>TF-IDF: Term Freq. - Inverse Document Freq.</a:t>
            </a:r>
          </a:p>
          <a:p>
            <a:pPr algn="l">
              <a:lnSpc>
                <a:spcPts val="7284"/>
              </a:lnSpc>
            </a:pPr>
            <a:endParaRPr lang="en-US" sz="6070">
              <a:solidFill>
                <a:srgbClr val="0F2A37"/>
              </a:solidFill>
              <a:latin typeface="Forum"/>
              <a:ea typeface="Forum"/>
              <a:cs typeface="Forum"/>
              <a:sym typeface="Forum"/>
            </a:endParaRPr>
          </a:p>
        </p:txBody>
      </p:sp>
      <p:sp>
        <p:nvSpPr>
          <p:cNvPr id="5" name="Freeform 5"/>
          <p:cNvSpPr/>
          <p:nvPr/>
        </p:nvSpPr>
        <p:spPr>
          <a:xfrm>
            <a:off x="534379" y="5924792"/>
            <a:ext cx="14569936" cy="3119397"/>
          </a:xfrm>
          <a:custGeom>
            <a:avLst/>
            <a:gdLst/>
            <a:ahLst/>
            <a:cxnLst/>
            <a:rect l="l" t="t" r="r" b="b"/>
            <a:pathLst>
              <a:path w="14569936" h="3119397">
                <a:moveTo>
                  <a:pt x="0" y="0"/>
                </a:moveTo>
                <a:lnTo>
                  <a:pt x="14569936" y="0"/>
                </a:lnTo>
                <a:lnTo>
                  <a:pt x="14569936" y="3119397"/>
                </a:lnTo>
                <a:lnTo>
                  <a:pt x="0" y="311939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1431" r="-11546" b="-1288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6" name="TextBox 6"/>
          <p:cNvSpPr txBox="1"/>
          <p:nvPr/>
        </p:nvSpPr>
        <p:spPr>
          <a:xfrm>
            <a:off x="1028700" y="2164025"/>
            <a:ext cx="16518797" cy="55398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999"/>
              </a:lnSpc>
            </a:pPr>
            <a:r>
              <a:rPr lang="en-US" sz="3912">
                <a:solidFill>
                  <a:srgbClr val="0F2A37"/>
                </a:solidFill>
                <a:latin typeface="TT Drugs"/>
                <a:ea typeface="TT Drugs"/>
                <a:cs typeface="TT Drugs"/>
                <a:sym typeface="TT Drugs"/>
              </a:rPr>
              <a:t>Document 1: “Claim the </a:t>
            </a:r>
            <a:r>
              <a:rPr lang="en-US" sz="3912">
                <a:solidFill>
                  <a:srgbClr val="FF3131"/>
                </a:solidFill>
                <a:latin typeface="TT Drugs"/>
                <a:ea typeface="TT Drugs"/>
                <a:cs typeface="TT Drugs"/>
                <a:sym typeface="TT Drugs"/>
              </a:rPr>
              <a:t>FREE </a:t>
            </a:r>
            <a:r>
              <a:rPr lang="en-US" sz="3912">
                <a:solidFill>
                  <a:srgbClr val="0F2A37"/>
                </a:solidFill>
                <a:latin typeface="TT Drugs"/>
                <a:ea typeface="TT Drugs"/>
                <a:cs typeface="TT Drugs"/>
                <a:sym typeface="TT Drugs"/>
              </a:rPr>
              <a:t>prize now!” </a:t>
            </a:r>
            <a:r>
              <a:rPr lang="en-US" sz="3912">
                <a:solidFill>
                  <a:srgbClr val="FF3131"/>
                </a:solidFill>
                <a:latin typeface="TT Drugs"/>
                <a:ea typeface="TT Drugs"/>
                <a:cs typeface="TT Drugs"/>
                <a:sym typeface="TT Drugs"/>
              </a:rPr>
              <a:t>(5 words)</a:t>
            </a:r>
          </a:p>
          <a:p>
            <a:pPr algn="l">
              <a:lnSpc>
                <a:spcPts val="8999"/>
              </a:lnSpc>
            </a:pPr>
            <a:r>
              <a:rPr lang="en-US" sz="3912">
                <a:solidFill>
                  <a:srgbClr val="0F2A37"/>
                </a:solidFill>
                <a:latin typeface="TT Drugs"/>
                <a:ea typeface="TT Drugs"/>
                <a:cs typeface="TT Drugs"/>
                <a:sym typeface="TT Drugs"/>
              </a:rPr>
              <a:t>Document 2: “You just won a </a:t>
            </a:r>
            <a:r>
              <a:rPr lang="en-US" sz="3912">
                <a:solidFill>
                  <a:srgbClr val="FF3131"/>
                </a:solidFill>
                <a:latin typeface="TT Drugs"/>
                <a:ea typeface="TT Drugs"/>
                <a:cs typeface="TT Drugs"/>
                <a:sym typeface="TT Drugs"/>
              </a:rPr>
              <a:t>FREE </a:t>
            </a:r>
            <a:r>
              <a:rPr lang="en-US" sz="3912">
                <a:solidFill>
                  <a:srgbClr val="0F2A37"/>
                </a:solidFill>
                <a:latin typeface="TT Drugs"/>
                <a:ea typeface="TT Drugs"/>
                <a:cs typeface="TT Drugs"/>
                <a:sym typeface="TT Drugs"/>
              </a:rPr>
              <a:t>holiday to Hawaii”</a:t>
            </a:r>
          </a:p>
          <a:p>
            <a:pPr algn="l">
              <a:lnSpc>
                <a:spcPts val="8999"/>
              </a:lnSpc>
            </a:pPr>
            <a:r>
              <a:rPr lang="en-US" sz="3912">
                <a:solidFill>
                  <a:srgbClr val="0F2A37"/>
                </a:solidFill>
                <a:latin typeface="TT Drugs"/>
                <a:ea typeface="TT Drugs"/>
                <a:cs typeface="TT Drugs"/>
                <a:sym typeface="TT Drugs"/>
              </a:rPr>
              <a:t>Document 3: “Reply to this message to receive an Iphone 18 Pro max”</a:t>
            </a:r>
          </a:p>
          <a:p>
            <a:pPr algn="l">
              <a:lnSpc>
                <a:spcPts val="8999"/>
              </a:lnSpc>
            </a:pPr>
            <a:endParaRPr lang="en-US" sz="3912">
              <a:solidFill>
                <a:srgbClr val="0F2A37"/>
              </a:solidFill>
              <a:latin typeface="TT Drugs"/>
              <a:ea typeface="TT Drugs"/>
              <a:cs typeface="TT Drugs"/>
              <a:sym typeface="TT Drugs"/>
            </a:endParaRPr>
          </a:p>
          <a:p>
            <a:pPr algn="l">
              <a:lnSpc>
                <a:spcPts val="8999"/>
              </a:lnSpc>
            </a:pPr>
            <a:endParaRPr lang="en-US" sz="3912">
              <a:solidFill>
                <a:srgbClr val="0F2A37"/>
              </a:solidFill>
              <a:latin typeface="TT Drugs"/>
              <a:ea typeface="TT Drugs"/>
              <a:cs typeface="TT Drugs"/>
              <a:sym typeface="TT Drug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50">
        <p:fade/>
      </p:transition>
    </mc:Choice>
    <mc:Fallback>
      <p:transition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BDCD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2483111">
            <a:off x="15183806" y="4858923"/>
            <a:ext cx="8681321" cy="7802337"/>
          </a:xfrm>
          <a:custGeom>
            <a:avLst/>
            <a:gdLst/>
            <a:ahLst/>
            <a:cxnLst/>
            <a:rect l="l" t="t" r="r" b="b"/>
            <a:pathLst>
              <a:path w="8681321" h="7802337">
                <a:moveTo>
                  <a:pt x="0" y="0"/>
                </a:moveTo>
                <a:lnTo>
                  <a:pt x="8681321" y="0"/>
                </a:lnTo>
                <a:lnTo>
                  <a:pt x="8681321" y="7802337"/>
                </a:lnTo>
                <a:lnTo>
                  <a:pt x="0" y="780233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Freeform 3"/>
          <p:cNvSpPr/>
          <p:nvPr/>
        </p:nvSpPr>
        <p:spPr>
          <a:xfrm>
            <a:off x="11434914" y="6629175"/>
            <a:ext cx="7288216" cy="7315650"/>
          </a:xfrm>
          <a:custGeom>
            <a:avLst/>
            <a:gdLst/>
            <a:ahLst/>
            <a:cxnLst/>
            <a:rect l="l" t="t" r="r" b="b"/>
            <a:pathLst>
              <a:path w="7288216" h="7315650">
                <a:moveTo>
                  <a:pt x="0" y="0"/>
                </a:moveTo>
                <a:lnTo>
                  <a:pt x="7288216" y="0"/>
                </a:lnTo>
                <a:lnTo>
                  <a:pt x="7288216" y="7315650"/>
                </a:lnTo>
                <a:lnTo>
                  <a:pt x="0" y="731565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4" name="Group 4"/>
          <p:cNvGrpSpPr/>
          <p:nvPr/>
        </p:nvGrpSpPr>
        <p:grpSpPr>
          <a:xfrm>
            <a:off x="760902" y="1684593"/>
            <a:ext cx="6551702" cy="7553341"/>
            <a:chOff x="0" y="-114300"/>
            <a:chExt cx="968157" cy="1116172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956932" cy="887572"/>
            </a:xfrm>
            <a:custGeom>
              <a:avLst/>
              <a:gdLst/>
              <a:ahLst/>
              <a:cxnLst/>
              <a:rect l="l" t="t" r="r" b="b"/>
              <a:pathLst>
                <a:path w="956932" h="887572">
                  <a:moveTo>
                    <a:pt x="0" y="0"/>
                  </a:moveTo>
                  <a:lnTo>
                    <a:pt x="956932" y="0"/>
                  </a:lnTo>
                  <a:lnTo>
                    <a:pt x="956932" y="887572"/>
                  </a:lnTo>
                  <a:lnTo>
                    <a:pt x="0" y="887572"/>
                  </a:ln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11225" y="-114300"/>
              <a:ext cx="956932" cy="111617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6199"/>
                </a:lnSpc>
              </a:pPr>
              <a:r>
                <a:rPr lang="en-US" sz="3099" dirty="0">
                  <a:solidFill>
                    <a:srgbClr val="FF3131"/>
                  </a:solidFill>
                  <a:latin typeface="TT Drugs"/>
                  <a:ea typeface="TT Drugs"/>
                  <a:cs typeface="TT Drugs"/>
                  <a:sym typeface="TT Drugs"/>
                </a:rPr>
                <a:t>Congratulations </a:t>
              </a:r>
              <a:r>
                <a:rPr lang="en-US" sz="3099" dirty="0" err="1">
                  <a:solidFill>
                    <a:srgbClr val="FF3131"/>
                  </a:solidFill>
                  <a:latin typeface="TT Drugs"/>
                  <a:ea typeface="TT Drugs"/>
                  <a:cs typeface="TT Drugs"/>
                  <a:sym typeface="TT Drugs"/>
                </a:rPr>
                <a:t>Main.Cpp</a:t>
              </a:r>
              <a:r>
                <a:rPr lang="en-US" sz="3099" dirty="0">
                  <a:solidFill>
                    <a:srgbClr val="FF3131"/>
                  </a:solidFill>
                  <a:latin typeface="TT Drugs"/>
                  <a:ea typeface="TT Drugs"/>
                  <a:cs typeface="TT Drugs"/>
                  <a:sym typeface="TT Drugs"/>
                </a:rPr>
                <a:t> member! You’ve been selected for an exclusive coding reward! Claim your free $100 tech gift card today before your offer expires! Click here now to secure your free prize</a:t>
              </a:r>
            </a:p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endParaRPr lang="en-US" sz="3099" dirty="0">
                <a:solidFill>
                  <a:srgbClr val="FF3131"/>
                </a:solidFill>
                <a:latin typeface="TT Drugs"/>
                <a:ea typeface="TT Drugs"/>
                <a:cs typeface="TT Drugs"/>
                <a:sym typeface="TT Drugs"/>
              </a:endParaRPr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7899209" y="4647609"/>
            <a:ext cx="1772687" cy="991782"/>
            <a:chOff x="0" y="0"/>
            <a:chExt cx="899828" cy="503435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899828" cy="503435"/>
            </a:xfrm>
            <a:custGeom>
              <a:avLst/>
              <a:gdLst/>
              <a:ahLst/>
              <a:cxnLst/>
              <a:rect l="l" t="t" r="r" b="b"/>
              <a:pathLst>
                <a:path w="899828" h="503435">
                  <a:moveTo>
                    <a:pt x="899828" y="251718"/>
                  </a:moveTo>
                  <a:lnTo>
                    <a:pt x="493428" y="0"/>
                  </a:lnTo>
                  <a:lnTo>
                    <a:pt x="493428" y="203200"/>
                  </a:lnTo>
                  <a:lnTo>
                    <a:pt x="0" y="203200"/>
                  </a:lnTo>
                  <a:lnTo>
                    <a:pt x="0" y="300235"/>
                  </a:lnTo>
                  <a:lnTo>
                    <a:pt x="493428" y="300235"/>
                  </a:lnTo>
                  <a:lnTo>
                    <a:pt x="493428" y="503435"/>
                  </a:lnTo>
                  <a:lnTo>
                    <a:pt x="899828" y="251718"/>
                  </a:ln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0" y="165100"/>
              <a:ext cx="798228" cy="13513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0" name="Freeform 10"/>
          <p:cNvSpPr/>
          <p:nvPr/>
        </p:nvSpPr>
        <p:spPr>
          <a:xfrm>
            <a:off x="9968049" y="2458082"/>
            <a:ext cx="7671906" cy="6006363"/>
          </a:xfrm>
          <a:custGeom>
            <a:avLst/>
            <a:gdLst/>
            <a:ahLst/>
            <a:cxnLst/>
            <a:rect l="l" t="t" r="r" b="b"/>
            <a:pathLst>
              <a:path w="7671906" h="6006363">
                <a:moveTo>
                  <a:pt x="0" y="0"/>
                </a:moveTo>
                <a:lnTo>
                  <a:pt x="7671906" y="0"/>
                </a:lnTo>
                <a:lnTo>
                  <a:pt x="7671906" y="6006363"/>
                </a:lnTo>
                <a:lnTo>
                  <a:pt x="0" y="600636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r="-1573" b="-1320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1" name="TextBox 11"/>
          <p:cNvSpPr txBox="1"/>
          <p:nvPr/>
        </p:nvSpPr>
        <p:spPr>
          <a:xfrm>
            <a:off x="1028700" y="1054328"/>
            <a:ext cx="14792598" cy="18474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284"/>
              </a:lnSpc>
            </a:pPr>
            <a:r>
              <a:rPr lang="en-US" sz="6070">
                <a:solidFill>
                  <a:srgbClr val="0F2A37"/>
                </a:solidFill>
                <a:latin typeface="Forum"/>
                <a:ea typeface="Forum"/>
                <a:cs typeface="Forum"/>
                <a:sym typeface="Forum"/>
              </a:rPr>
              <a:t>TF-IDF: Turn texts into numbers</a:t>
            </a:r>
          </a:p>
          <a:p>
            <a:pPr algn="l">
              <a:lnSpc>
                <a:spcPts val="7284"/>
              </a:lnSpc>
            </a:pPr>
            <a:endParaRPr lang="en-US" sz="6070">
              <a:solidFill>
                <a:srgbClr val="0F2A37"/>
              </a:solidFill>
              <a:latin typeface="Forum"/>
              <a:ea typeface="Forum"/>
              <a:cs typeface="Forum"/>
              <a:sym typeface="Forum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50">
        <p:fade/>
      </p:transition>
    </mc:Choice>
    <mc:Fallback>
      <p:transition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D769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1743691">
            <a:off x="12650583" y="5606367"/>
            <a:ext cx="6964299" cy="8229600"/>
          </a:xfrm>
          <a:custGeom>
            <a:avLst/>
            <a:gdLst/>
            <a:ahLst/>
            <a:cxnLst/>
            <a:rect l="l" t="t" r="r" b="b"/>
            <a:pathLst>
              <a:path w="6964299" h="8229600">
                <a:moveTo>
                  <a:pt x="0" y="0"/>
                </a:moveTo>
                <a:lnTo>
                  <a:pt x="6964299" y="0"/>
                </a:lnTo>
                <a:lnTo>
                  <a:pt x="6964299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Freeform 3"/>
          <p:cNvSpPr/>
          <p:nvPr/>
        </p:nvSpPr>
        <p:spPr>
          <a:xfrm>
            <a:off x="-1901857" y="-2160536"/>
            <a:ext cx="6151626" cy="8229600"/>
          </a:xfrm>
          <a:custGeom>
            <a:avLst/>
            <a:gdLst/>
            <a:ahLst/>
            <a:cxnLst/>
            <a:rect l="l" t="t" r="r" b="b"/>
            <a:pathLst>
              <a:path w="6151626" h="8229600">
                <a:moveTo>
                  <a:pt x="0" y="0"/>
                </a:moveTo>
                <a:lnTo>
                  <a:pt x="6151626" y="0"/>
                </a:lnTo>
                <a:lnTo>
                  <a:pt x="6151626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TextBox 4"/>
          <p:cNvSpPr txBox="1"/>
          <p:nvPr/>
        </p:nvSpPr>
        <p:spPr>
          <a:xfrm>
            <a:off x="2062257" y="3614601"/>
            <a:ext cx="11833125" cy="43815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1519"/>
              </a:lnSpc>
            </a:pPr>
            <a:r>
              <a:rPr lang="en-US" sz="9600">
                <a:solidFill>
                  <a:srgbClr val="0F2A37"/>
                </a:solidFill>
                <a:latin typeface="Forum"/>
                <a:ea typeface="Forum"/>
                <a:cs typeface="Forum"/>
                <a:sym typeface="Forum"/>
              </a:rPr>
              <a:t>MACHINE LEARNING</a:t>
            </a:r>
          </a:p>
          <a:p>
            <a:pPr algn="l">
              <a:lnSpc>
                <a:spcPts val="11519"/>
              </a:lnSpc>
            </a:pPr>
            <a:endParaRPr lang="en-US" sz="9600">
              <a:solidFill>
                <a:srgbClr val="0F2A37"/>
              </a:solidFill>
              <a:latin typeface="Forum"/>
              <a:ea typeface="Forum"/>
              <a:cs typeface="Forum"/>
              <a:sym typeface="Forum"/>
            </a:endParaRPr>
          </a:p>
          <a:p>
            <a:pPr algn="l">
              <a:lnSpc>
                <a:spcPts val="11519"/>
              </a:lnSpc>
            </a:pPr>
            <a:endParaRPr lang="en-US" sz="9600">
              <a:solidFill>
                <a:srgbClr val="0F2A37"/>
              </a:solidFill>
              <a:latin typeface="Forum"/>
              <a:ea typeface="Forum"/>
              <a:cs typeface="Forum"/>
              <a:sym typeface="Forum"/>
            </a:endParaRPr>
          </a:p>
        </p:txBody>
      </p:sp>
      <p:sp>
        <p:nvSpPr>
          <p:cNvPr id="5" name="TextBox 5"/>
          <p:cNvSpPr txBox="1"/>
          <p:nvPr/>
        </p:nvSpPr>
        <p:spPr>
          <a:xfrm>
            <a:off x="2062257" y="5336613"/>
            <a:ext cx="12772444" cy="11366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549"/>
              </a:lnSpc>
            </a:pPr>
            <a:r>
              <a:rPr lang="en-US" sz="3499">
                <a:solidFill>
                  <a:srgbClr val="0F2A37"/>
                </a:solidFill>
                <a:latin typeface="TT Drugs"/>
                <a:ea typeface="TT Drugs"/>
                <a:cs typeface="TT Drugs"/>
                <a:sym typeface="TT Drugs"/>
              </a:rPr>
              <a:t>ALGORITHMS THAT “LEARN” PATTERNS FROM DATA</a:t>
            </a:r>
          </a:p>
          <a:p>
            <a:pPr algn="l">
              <a:lnSpc>
                <a:spcPts val="4549"/>
              </a:lnSpc>
            </a:pPr>
            <a:endParaRPr lang="en-US" sz="3499">
              <a:solidFill>
                <a:srgbClr val="0F2A37"/>
              </a:solidFill>
              <a:latin typeface="TT Drugs"/>
              <a:ea typeface="TT Drugs"/>
              <a:cs typeface="TT Drugs"/>
              <a:sym typeface="TT Drug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50">
        <p:fade/>
      </p:transition>
    </mc:Choice>
    <mc:Fallback>
      <p:transition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BDCD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2483111">
            <a:off x="15183806" y="4858923"/>
            <a:ext cx="8681321" cy="7802337"/>
          </a:xfrm>
          <a:custGeom>
            <a:avLst/>
            <a:gdLst/>
            <a:ahLst/>
            <a:cxnLst/>
            <a:rect l="l" t="t" r="r" b="b"/>
            <a:pathLst>
              <a:path w="8681321" h="7802337">
                <a:moveTo>
                  <a:pt x="0" y="0"/>
                </a:moveTo>
                <a:lnTo>
                  <a:pt x="8681321" y="0"/>
                </a:lnTo>
                <a:lnTo>
                  <a:pt x="8681321" y="7802337"/>
                </a:lnTo>
                <a:lnTo>
                  <a:pt x="0" y="780233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Freeform 3"/>
          <p:cNvSpPr/>
          <p:nvPr/>
        </p:nvSpPr>
        <p:spPr>
          <a:xfrm>
            <a:off x="10259281" y="6010480"/>
            <a:ext cx="7288216" cy="7315650"/>
          </a:xfrm>
          <a:custGeom>
            <a:avLst/>
            <a:gdLst/>
            <a:ahLst/>
            <a:cxnLst/>
            <a:rect l="l" t="t" r="r" b="b"/>
            <a:pathLst>
              <a:path w="7288216" h="7315650">
                <a:moveTo>
                  <a:pt x="0" y="0"/>
                </a:moveTo>
                <a:lnTo>
                  <a:pt x="7288216" y="0"/>
                </a:lnTo>
                <a:lnTo>
                  <a:pt x="7288216" y="7315650"/>
                </a:lnTo>
                <a:lnTo>
                  <a:pt x="0" y="731565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Freeform 4"/>
          <p:cNvSpPr/>
          <p:nvPr/>
        </p:nvSpPr>
        <p:spPr>
          <a:xfrm>
            <a:off x="1028700" y="5762794"/>
            <a:ext cx="5130476" cy="3318000"/>
          </a:xfrm>
          <a:custGeom>
            <a:avLst/>
            <a:gdLst/>
            <a:ahLst/>
            <a:cxnLst/>
            <a:rect l="l" t="t" r="r" b="b"/>
            <a:pathLst>
              <a:path w="5130476" h="3318000">
                <a:moveTo>
                  <a:pt x="0" y="0"/>
                </a:moveTo>
                <a:lnTo>
                  <a:pt x="5130476" y="0"/>
                </a:lnTo>
                <a:lnTo>
                  <a:pt x="5130476" y="3318001"/>
                </a:lnTo>
                <a:lnTo>
                  <a:pt x="0" y="331800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5" name="Freeform 5"/>
          <p:cNvSpPr/>
          <p:nvPr/>
        </p:nvSpPr>
        <p:spPr>
          <a:xfrm>
            <a:off x="6344757" y="5762794"/>
            <a:ext cx="6321664" cy="3318000"/>
          </a:xfrm>
          <a:custGeom>
            <a:avLst/>
            <a:gdLst/>
            <a:ahLst/>
            <a:cxnLst/>
            <a:rect l="l" t="t" r="r" b="b"/>
            <a:pathLst>
              <a:path w="6321664" h="3318000">
                <a:moveTo>
                  <a:pt x="0" y="0"/>
                </a:moveTo>
                <a:lnTo>
                  <a:pt x="6321664" y="0"/>
                </a:lnTo>
                <a:lnTo>
                  <a:pt x="6321664" y="3318001"/>
                </a:lnTo>
                <a:lnTo>
                  <a:pt x="0" y="3318001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6" name="Freeform 6"/>
          <p:cNvSpPr/>
          <p:nvPr/>
        </p:nvSpPr>
        <p:spPr>
          <a:xfrm>
            <a:off x="12852002" y="5762794"/>
            <a:ext cx="5162923" cy="3318000"/>
          </a:xfrm>
          <a:custGeom>
            <a:avLst/>
            <a:gdLst/>
            <a:ahLst/>
            <a:cxnLst/>
            <a:rect l="l" t="t" r="r" b="b"/>
            <a:pathLst>
              <a:path w="5162923" h="3318000">
                <a:moveTo>
                  <a:pt x="0" y="0"/>
                </a:moveTo>
                <a:lnTo>
                  <a:pt x="5162923" y="0"/>
                </a:lnTo>
                <a:lnTo>
                  <a:pt x="5162923" y="3318001"/>
                </a:lnTo>
                <a:lnTo>
                  <a:pt x="0" y="3318001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7" name="TextBox 7"/>
          <p:cNvSpPr txBox="1"/>
          <p:nvPr/>
        </p:nvSpPr>
        <p:spPr>
          <a:xfrm>
            <a:off x="1028700" y="1054328"/>
            <a:ext cx="14792598" cy="92847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284"/>
              </a:lnSpc>
            </a:pPr>
            <a:r>
              <a:rPr lang="en-US" sz="6070">
                <a:solidFill>
                  <a:srgbClr val="0F2A37"/>
                </a:solidFill>
                <a:latin typeface="Forum"/>
                <a:ea typeface="Forum"/>
                <a:cs typeface="Forum"/>
                <a:sym typeface="Forum"/>
              </a:rPr>
              <a:t>How Machine Learning is used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740503" y="1989155"/>
            <a:ext cx="16518797" cy="387383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909552" lvl="1" indent="-454776" algn="l">
              <a:lnSpc>
                <a:spcPts val="7625"/>
              </a:lnSpc>
              <a:buFont typeface="Arial"/>
              <a:buChar char="•"/>
            </a:pPr>
            <a:r>
              <a:rPr lang="en-US" sz="4212">
                <a:solidFill>
                  <a:srgbClr val="0F2A37"/>
                </a:solidFill>
                <a:latin typeface="TT Drugs"/>
                <a:ea typeface="TT Drugs"/>
                <a:cs typeface="TT Drugs"/>
                <a:sym typeface="TT Drugs"/>
              </a:rPr>
              <a:t>TF – IDF converts text to numbers.</a:t>
            </a:r>
          </a:p>
          <a:p>
            <a:pPr marL="909552" lvl="1" indent="-454776" algn="l">
              <a:lnSpc>
                <a:spcPts val="7625"/>
              </a:lnSpc>
              <a:buFont typeface="Arial"/>
              <a:buChar char="•"/>
            </a:pPr>
            <a:r>
              <a:rPr lang="en-US" sz="4212">
                <a:solidFill>
                  <a:srgbClr val="0F2A37"/>
                </a:solidFill>
                <a:latin typeface="TT Drugs"/>
                <a:ea typeface="TT Drugs"/>
                <a:cs typeface="TT Drugs"/>
                <a:sym typeface="TT Drugs"/>
              </a:rPr>
              <a:t>Huge amount of data numbers shows patterns.</a:t>
            </a:r>
          </a:p>
          <a:p>
            <a:pPr marL="909552" lvl="1" indent="-454776" algn="l">
              <a:lnSpc>
                <a:spcPts val="7625"/>
              </a:lnSpc>
              <a:buFont typeface="Arial"/>
              <a:buChar char="•"/>
            </a:pPr>
            <a:r>
              <a:rPr lang="en-US" sz="4212">
                <a:solidFill>
                  <a:srgbClr val="0F2A37"/>
                </a:solidFill>
                <a:latin typeface="TT Drugs"/>
                <a:ea typeface="TT Drugs"/>
                <a:cs typeface="TT Drugs"/>
                <a:sym typeface="TT Drugs"/>
              </a:rPr>
              <a:t>ML Algorithms ANALYZE &amp; LEARN patterns of HAM &amp; SPAM</a:t>
            </a:r>
          </a:p>
          <a:p>
            <a:pPr algn="l">
              <a:lnSpc>
                <a:spcPts val="8530"/>
              </a:lnSpc>
            </a:pPr>
            <a:endParaRPr lang="en-US" sz="4212">
              <a:solidFill>
                <a:srgbClr val="0F2A37"/>
              </a:solidFill>
              <a:latin typeface="TT Drugs"/>
              <a:ea typeface="TT Drugs"/>
              <a:cs typeface="TT Drugs"/>
              <a:sym typeface="TT Drugs"/>
            </a:endParaRPr>
          </a:p>
        </p:txBody>
      </p:sp>
      <p:sp>
        <p:nvSpPr>
          <p:cNvPr id="9" name="TextBox 9"/>
          <p:cNvSpPr txBox="1"/>
          <p:nvPr/>
        </p:nvSpPr>
        <p:spPr>
          <a:xfrm>
            <a:off x="-5210644" y="9309395"/>
            <a:ext cx="16518797" cy="5651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549"/>
              </a:lnSpc>
              <a:spcBef>
                <a:spcPct val="0"/>
              </a:spcBef>
            </a:pPr>
            <a:r>
              <a:rPr lang="en-US" sz="3499">
                <a:solidFill>
                  <a:srgbClr val="0F2A37"/>
                </a:solidFill>
                <a:latin typeface="TT Drugs"/>
                <a:ea typeface="TT Drugs"/>
                <a:cs typeface="TT Drugs"/>
                <a:sym typeface="TT Drugs"/>
              </a:rPr>
              <a:t>*Illustrative images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50">
        <p:fade/>
      </p:transition>
    </mc:Choice>
    <mc:Fallback>
      <p:transition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D769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1743691">
            <a:off x="12650583" y="5606367"/>
            <a:ext cx="6964299" cy="8229600"/>
          </a:xfrm>
          <a:custGeom>
            <a:avLst/>
            <a:gdLst/>
            <a:ahLst/>
            <a:cxnLst/>
            <a:rect l="l" t="t" r="r" b="b"/>
            <a:pathLst>
              <a:path w="6964299" h="8229600">
                <a:moveTo>
                  <a:pt x="0" y="0"/>
                </a:moveTo>
                <a:lnTo>
                  <a:pt x="6964299" y="0"/>
                </a:lnTo>
                <a:lnTo>
                  <a:pt x="6964299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Freeform 3"/>
          <p:cNvSpPr/>
          <p:nvPr/>
        </p:nvSpPr>
        <p:spPr>
          <a:xfrm>
            <a:off x="-1901857" y="-2160536"/>
            <a:ext cx="6151626" cy="8229600"/>
          </a:xfrm>
          <a:custGeom>
            <a:avLst/>
            <a:gdLst/>
            <a:ahLst/>
            <a:cxnLst/>
            <a:rect l="l" t="t" r="r" b="b"/>
            <a:pathLst>
              <a:path w="6151626" h="8229600">
                <a:moveTo>
                  <a:pt x="0" y="0"/>
                </a:moveTo>
                <a:lnTo>
                  <a:pt x="6151626" y="0"/>
                </a:lnTo>
                <a:lnTo>
                  <a:pt x="6151626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TextBox 4"/>
          <p:cNvSpPr txBox="1"/>
          <p:nvPr/>
        </p:nvSpPr>
        <p:spPr>
          <a:xfrm>
            <a:off x="2062257" y="3705933"/>
            <a:ext cx="11833125" cy="29241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1519"/>
              </a:lnSpc>
            </a:pPr>
            <a:r>
              <a:rPr lang="en-US" sz="9600">
                <a:solidFill>
                  <a:srgbClr val="0F2A37"/>
                </a:solidFill>
                <a:latin typeface="Forum"/>
                <a:ea typeface="Forum"/>
                <a:cs typeface="Forum"/>
                <a:sym typeface="Forum"/>
              </a:rPr>
              <a:t>SAMPLE ML MODEL</a:t>
            </a:r>
          </a:p>
          <a:p>
            <a:pPr algn="l">
              <a:lnSpc>
                <a:spcPts val="11519"/>
              </a:lnSpc>
            </a:pPr>
            <a:endParaRPr lang="en-US" sz="9600">
              <a:solidFill>
                <a:srgbClr val="0F2A37"/>
              </a:solidFill>
              <a:latin typeface="Forum"/>
              <a:ea typeface="Forum"/>
              <a:cs typeface="Forum"/>
              <a:sym typeface="Forum"/>
            </a:endParaRPr>
          </a:p>
        </p:txBody>
      </p:sp>
      <p:sp>
        <p:nvSpPr>
          <p:cNvPr id="5" name="TextBox 5"/>
          <p:cNvSpPr txBox="1"/>
          <p:nvPr/>
        </p:nvSpPr>
        <p:spPr>
          <a:xfrm>
            <a:off x="2425864" y="5321463"/>
            <a:ext cx="8621260" cy="11366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549"/>
              </a:lnSpc>
            </a:pPr>
            <a:r>
              <a:rPr lang="en-US" sz="3499">
                <a:solidFill>
                  <a:srgbClr val="0F2A37"/>
                </a:solidFill>
                <a:latin typeface="TT Drugs"/>
                <a:ea typeface="TT Drugs"/>
                <a:cs typeface="TT Drugs"/>
                <a:sym typeface="TT Drugs"/>
              </a:rPr>
              <a:t>EVERYTHING TOGETHER!!! HEHEHE</a:t>
            </a:r>
          </a:p>
          <a:p>
            <a:pPr algn="l">
              <a:lnSpc>
                <a:spcPts val="4549"/>
              </a:lnSpc>
            </a:pPr>
            <a:endParaRPr lang="en-US" sz="3499">
              <a:solidFill>
                <a:srgbClr val="0F2A37"/>
              </a:solidFill>
              <a:latin typeface="TT Drugs"/>
              <a:ea typeface="TT Drugs"/>
              <a:cs typeface="TT Drugs"/>
              <a:sym typeface="TT Drug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50">
        <p:fade/>
      </p:transition>
    </mc:Choice>
    <mc:Fallback>
      <p:transition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BDCD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2483111">
            <a:off x="15183806" y="4858923"/>
            <a:ext cx="8681321" cy="7802337"/>
          </a:xfrm>
          <a:custGeom>
            <a:avLst/>
            <a:gdLst/>
            <a:ahLst/>
            <a:cxnLst/>
            <a:rect l="l" t="t" r="r" b="b"/>
            <a:pathLst>
              <a:path w="8681321" h="7802337">
                <a:moveTo>
                  <a:pt x="0" y="0"/>
                </a:moveTo>
                <a:lnTo>
                  <a:pt x="8681321" y="0"/>
                </a:lnTo>
                <a:lnTo>
                  <a:pt x="8681321" y="7802337"/>
                </a:lnTo>
                <a:lnTo>
                  <a:pt x="0" y="780233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Freeform 3"/>
          <p:cNvSpPr/>
          <p:nvPr/>
        </p:nvSpPr>
        <p:spPr>
          <a:xfrm>
            <a:off x="10259281" y="6010480"/>
            <a:ext cx="7288216" cy="7315650"/>
          </a:xfrm>
          <a:custGeom>
            <a:avLst/>
            <a:gdLst/>
            <a:ahLst/>
            <a:cxnLst/>
            <a:rect l="l" t="t" r="r" b="b"/>
            <a:pathLst>
              <a:path w="7288216" h="7315650">
                <a:moveTo>
                  <a:pt x="0" y="0"/>
                </a:moveTo>
                <a:lnTo>
                  <a:pt x="7288216" y="0"/>
                </a:lnTo>
                <a:lnTo>
                  <a:pt x="7288216" y="7315650"/>
                </a:lnTo>
                <a:lnTo>
                  <a:pt x="0" y="731565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Freeform 4"/>
          <p:cNvSpPr/>
          <p:nvPr/>
        </p:nvSpPr>
        <p:spPr>
          <a:xfrm>
            <a:off x="1028700" y="6467729"/>
            <a:ext cx="13574855" cy="3200576"/>
          </a:xfrm>
          <a:custGeom>
            <a:avLst/>
            <a:gdLst/>
            <a:ahLst/>
            <a:cxnLst/>
            <a:rect l="l" t="t" r="r" b="b"/>
            <a:pathLst>
              <a:path w="13574855" h="3200576">
                <a:moveTo>
                  <a:pt x="0" y="0"/>
                </a:moveTo>
                <a:lnTo>
                  <a:pt x="13574855" y="0"/>
                </a:lnTo>
                <a:lnTo>
                  <a:pt x="13574855" y="3200576"/>
                </a:lnTo>
                <a:lnTo>
                  <a:pt x="0" y="320057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5" name="TextBox 5"/>
          <p:cNvSpPr txBox="1"/>
          <p:nvPr/>
        </p:nvSpPr>
        <p:spPr>
          <a:xfrm>
            <a:off x="1028700" y="1019175"/>
            <a:ext cx="14792598" cy="34385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9000"/>
              </a:lnSpc>
            </a:pPr>
            <a:r>
              <a:rPr lang="en-US" sz="7500">
                <a:solidFill>
                  <a:srgbClr val="0F2A37"/>
                </a:solidFill>
                <a:latin typeface="Forum"/>
                <a:ea typeface="Forum"/>
                <a:cs typeface="Forum"/>
                <a:sym typeface="Forum"/>
              </a:rPr>
              <a:t>SAMPLE’S DATASETS</a:t>
            </a:r>
          </a:p>
          <a:p>
            <a:pPr algn="l">
              <a:lnSpc>
                <a:spcPts val="9000"/>
              </a:lnSpc>
            </a:pPr>
            <a:endParaRPr lang="en-US" sz="7500">
              <a:solidFill>
                <a:srgbClr val="0F2A37"/>
              </a:solidFill>
              <a:latin typeface="Forum"/>
              <a:ea typeface="Forum"/>
              <a:cs typeface="Forum"/>
              <a:sym typeface="Forum"/>
            </a:endParaRPr>
          </a:p>
          <a:p>
            <a:pPr algn="l">
              <a:lnSpc>
                <a:spcPts val="9000"/>
              </a:lnSpc>
            </a:pPr>
            <a:endParaRPr lang="en-US" sz="7500">
              <a:solidFill>
                <a:srgbClr val="0F2A37"/>
              </a:solidFill>
              <a:latin typeface="Forum"/>
              <a:ea typeface="Forum"/>
              <a:cs typeface="Forum"/>
              <a:sym typeface="Forum"/>
            </a:endParaRPr>
          </a:p>
        </p:txBody>
      </p:sp>
      <p:sp>
        <p:nvSpPr>
          <p:cNvPr id="6" name="TextBox 6"/>
          <p:cNvSpPr txBox="1"/>
          <p:nvPr/>
        </p:nvSpPr>
        <p:spPr>
          <a:xfrm>
            <a:off x="740503" y="2374817"/>
            <a:ext cx="16518797" cy="29622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971550" lvl="1" indent="-485775" algn="l">
              <a:lnSpc>
                <a:spcPts val="5850"/>
              </a:lnSpc>
              <a:buFont typeface="Arial"/>
              <a:buChar char="•"/>
            </a:pPr>
            <a:r>
              <a:rPr lang="en-US" sz="4500">
                <a:solidFill>
                  <a:srgbClr val="0F2A37"/>
                </a:solidFill>
                <a:latin typeface="TT Drugs"/>
                <a:ea typeface="TT Drugs"/>
                <a:cs typeface="TT Drugs"/>
                <a:sym typeface="TT Drugs"/>
              </a:rPr>
              <a:t>UCI SMS Spam Collection</a:t>
            </a:r>
          </a:p>
          <a:p>
            <a:pPr marL="971550" lvl="1" indent="-485775" algn="l">
              <a:lnSpc>
                <a:spcPts val="5850"/>
              </a:lnSpc>
              <a:buFont typeface="Arial"/>
              <a:buChar char="•"/>
            </a:pPr>
            <a:r>
              <a:rPr lang="en-US" sz="4500">
                <a:solidFill>
                  <a:srgbClr val="0F2A37"/>
                </a:solidFill>
                <a:latin typeface="TT Drugs"/>
                <a:ea typeface="TT Drugs"/>
                <a:cs typeface="TT Drugs"/>
                <a:sym typeface="TT Drugs"/>
              </a:rPr>
              <a:t>Mendeley SMS Phishing </a:t>
            </a:r>
          </a:p>
          <a:p>
            <a:pPr marL="971550" lvl="1" indent="-485775" algn="l">
              <a:lnSpc>
                <a:spcPts val="5850"/>
              </a:lnSpc>
              <a:buFont typeface="Arial"/>
              <a:buChar char="•"/>
            </a:pPr>
            <a:r>
              <a:rPr lang="en-US" sz="4500">
                <a:solidFill>
                  <a:srgbClr val="0F2A37"/>
                </a:solidFill>
                <a:latin typeface="TT Drugs"/>
                <a:ea typeface="TT Drugs"/>
                <a:cs typeface="TT Drugs"/>
                <a:sym typeface="TT Drugs"/>
              </a:rPr>
              <a:t>Smishtank Phishing Corpus  </a:t>
            </a:r>
          </a:p>
          <a:p>
            <a:pPr algn="l">
              <a:lnSpc>
                <a:spcPts val="5850"/>
              </a:lnSpc>
            </a:pPr>
            <a:endParaRPr lang="en-US" sz="4500">
              <a:solidFill>
                <a:srgbClr val="0F2A37"/>
              </a:solidFill>
              <a:latin typeface="TT Drugs"/>
              <a:ea typeface="TT Drugs"/>
              <a:cs typeface="TT Drugs"/>
              <a:sym typeface="TT Drugs"/>
            </a:endParaRPr>
          </a:p>
        </p:txBody>
      </p:sp>
      <p:sp>
        <p:nvSpPr>
          <p:cNvPr id="7" name="TextBox 7"/>
          <p:cNvSpPr txBox="1"/>
          <p:nvPr/>
        </p:nvSpPr>
        <p:spPr>
          <a:xfrm>
            <a:off x="9415361" y="2374817"/>
            <a:ext cx="16518797" cy="22193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971550" lvl="1" indent="-485775" algn="l">
              <a:lnSpc>
                <a:spcPts val="5850"/>
              </a:lnSpc>
              <a:buFont typeface="Arial"/>
              <a:buChar char="•"/>
            </a:pPr>
            <a:r>
              <a:rPr lang="en-US" sz="4500">
                <a:solidFill>
                  <a:srgbClr val="0F2A37"/>
                </a:solidFill>
                <a:latin typeface="TT Drugs"/>
                <a:ea typeface="TT Drugs"/>
                <a:cs typeface="TT Drugs"/>
                <a:sym typeface="TT Drugs"/>
              </a:rPr>
              <a:t>IMC 2025 ACM Smishing </a:t>
            </a:r>
          </a:p>
          <a:p>
            <a:pPr marL="971550" lvl="1" indent="-485775" algn="l">
              <a:lnSpc>
                <a:spcPts val="5850"/>
              </a:lnSpc>
              <a:buFont typeface="Arial"/>
              <a:buChar char="•"/>
            </a:pPr>
            <a:r>
              <a:rPr lang="en-US" sz="4500">
                <a:solidFill>
                  <a:srgbClr val="0F2A37"/>
                </a:solidFill>
                <a:latin typeface="TT Drugs"/>
                <a:ea typeface="TT Drugs"/>
                <a:cs typeface="TT Drugs"/>
                <a:sym typeface="TT Drugs"/>
              </a:rPr>
              <a:t>NUS SMS Corpus</a:t>
            </a:r>
          </a:p>
          <a:p>
            <a:pPr algn="l">
              <a:lnSpc>
                <a:spcPts val="5850"/>
              </a:lnSpc>
            </a:pPr>
            <a:endParaRPr lang="en-US" sz="4500">
              <a:solidFill>
                <a:srgbClr val="0F2A37"/>
              </a:solidFill>
              <a:latin typeface="TT Drugs"/>
              <a:ea typeface="TT Drugs"/>
              <a:cs typeface="TT Drugs"/>
              <a:sym typeface="TT Drugs"/>
            </a:endParaRPr>
          </a:p>
        </p:txBody>
      </p:sp>
      <p:sp>
        <p:nvSpPr>
          <p:cNvPr id="8" name="TextBox 8"/>
          <p:cNvSpPr txBox="1"/>
          <p:nvPr/>
        </p:nvSpPr>
        <p:spPr>
          <a:xfrm>
            <a:off x="1028700" y="5133975"/>
            <a:ext cx="14792598" cy="31813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399"/>
              </a:lnSpc>
            </a:pPr>
            <a:r>
              <a:rPr lang="en-US" sz="6999">
                <a:solidFill>
                  <a:srgbClr val="0F2A37"/>
                </a:solidFill>
                <a:latin typeface="Forum"/>
                <a:ea typeface="Forum"/>
                <a:cs typeface="Forum"/>
                <a:sym typeface="Forum"/>
              </a:rPr>
              <a:t>EVALUATION</a:t>
            </a:r>
          </a:p>
          <a:p>
            <a:pPr algn="l">
              <a:lnSpc>
                <a:spcPts val="8399"/>
              </a:lnSpc>
            </a:pPr>
            <a:endParaRPr lang="en-US" sz="6999">
              <a:solidFill>
                <a:srgbClr val="0F2A37"/>
              </a:solidFill>
              <a:latin typeface="Forum"/>
              <a:ea typeface="Forum"/>
              <a:cs typeface="Forum"/>
              <a:sym typeface="Forum"/>
            </a:endParaRPr>
          </a:p>
          <a:p>
            <a:pPr algn="l">
              <a:lnSpc>
                <a:spcPts val="8399"/>
              </a:lnSpc>
            </a:pPr>
            <a:endParaRPr lang="en-US" sz="6999">
              <a:solidFill>
                <a:srgbClr val="0F2A37"/>
              </a:solidFill>
              <a:latin typeface="Forum"/>
              <a:ea typeface="Forum"/>
              <a:cs typeface="Forum"/>
              <a:sym typeface="Forum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50">
        <p:fade/>
      </p:transition>
    </mc:Choice>
    <mc:Fallback>
      <p:transition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BDCD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2483111">
            <a:off x="15183806" y="4858923"/>
            <a:ext cx="8681321" cy="7802337"/>
          </a:xfrm>
          <a:custGeom>
            <a:avLst/>
            <a:gdLst/>
            <a:ahLst/>
            <a:cxnLst/>
            <a:rect l="l" t="t" r="r" b="b"/>
            <a:pathLst>
              <a:path w="8681321" h="7802337">
                <a:moveTo>
                  <a:pt x="0" y="0"/>
                </a:moveTo>
                <a:lnTo>
                  <a:pt x="8681321" y="0"/>
                </a:lnTo>
                <a:lnTo>
                  <a:pt x="8681321" y="7802337"/>
                </a:lnTo>
                <a:lnTo>
                  <a:pt x="0" y="780233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Freeform 3"/>
          <p:cNvSpPr/>
          <p:nvPr/>
        </p:nvSpPr>
        <p:spPr>
          <a:xfrm>
            <a:off x="10259281" y="6010480"/>
            <a:ext cx="7288216" cy="7315650"/>
          </a:xfrm>
          <a:custGeom>
            <a:avLst/>
            <a:gdLst/>
            <a:ahLst/>
            <a:cxnLst/>
            <a:rect l="l" t="t" r="r" b="b"/>
            <a:pathLst>
              <a:path w="7288216" h="7315650">
                <a:moveTo>
                  <a:pt x="0" y="0"/>
                </a:moveTo>
                <a:lnTo>
                  <a:pt x="7288216" y="0"/>
                </a:lnTo>
                <a:lnTo>
                  <a:pt x="7288216" y="7315650"/>
                </a:lnTo>
                <a:lnTo>
                  <a:pt x="0" y="731565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Freeform 4"/>
          <p:cNvSpPr/>
          <p:nvPr/>
        </p:nvSpPr>
        <p:spPr>
          <a:xfrm>
            <a:off x="1530095" y="2670795"/>
            <a:ext cx="15554637" cy="5506066"/>
          </a:xfrm>
          <a:custGeom>
            <a:avLst/>
            <a:gdLst/>
            <a:ahLst/>
            <a:cxnLst/>
            <a:rect l="l" t="t" r="r" b="b"/>
            <a:pathLst>
              <a:path w="15554637" h="5506066">
                <a:moveTo>
                  <a:pt x="0" y="0"/>
                </a:moveTo>
                <a:lnTo>
                  <a:pt x="15554636" y="0"/>
                </a:lnTo>
                <a:lnTo>
                  <a:pt x="15554636" y="5506066"/>
                </a:lnTo>
                <a:lnTo>
                  <a:pt x="0" y="550606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5" name="TextBox 5"/>
          <p:cNvSpPr txBox="1"/>
          <p:nvPr/>
        </p:nvSpPr>
        <p:spPr>
          <a:xfrm>
            <a:off x="1530095" y="100223"/>
            <a:ext cx="14792598" cy="18474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284"/>
              </a:lnSpc>
            </a:pPr>
            <a:endParaRPr/>
          </a:p>
          <a:p>
            <a:pPr algn="l">
              <a:lnSpc>
                <a:spcPts val="7284"/>
              </a:lnSpc>
            </a:pPr>
            <a:r>
              <a:rPr lang="en-US" sz="6070">
                <a:solidFill>
                  <a:srgbClr val="0F2A37"/>
                </a:solidFill>
                <a:latin typeface="Forum"/>
                <a:ea typeface="Forum"/>
                <a:cs typeface="Forum"/>
                <a:sym typeface="Forum"/>
              </a:rPr>
              <a:t>SAMPLE’S DEMO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50">
        <p:fade/>
      </p:transition>
    </mc:Choice>
    <mc:Fallback>
      <p:transition>
        <p:fade/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D769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10314521">
            <a:off x="-831151" y="-5705577"/>
            <a:ext cx="7672032" cy="12474848"/>
          </a:xfrm>
          <a:custGeom>
            <a:avLst/>
            <a:gdLst/>
            <a:ahLst/>
            <a:cxnLst/>
            <a:rect l="l" t="t" r="r" b="b"/>
            <a:pathLst>
              <a:path w="7672032" h="12474848">
                <a:moveTo>
                  <a:pt x="0" y="0"/>
                </a:moveTo>
                <a:lnTo>
                  <a:pt x="7672032" y="0"/>
                </a:lnTo>
                <a:lnTo>
                  <a:pt x="7672032" y="12474849"/>
                </a:lnTo>
                <a:lnTo>
                  <a:pt x="0" y="1247484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Freeform 3"/>
          <p:cNvSpPr/>
          <p:nvPr/>
        </p:nvSpPr>
        <p:spPr>
          <a:xfrm rot="-3683252">
            <a:off x="-2873462" y="2714132"/>
            <a:ext cx="7804324" cy="8225902"/>
          </a:xfrm>
          <a:custGeom>
            <a:avLst/>
            <a:gdLst/>
            <a:ahLst/>
            <a:cxnLst/>
            <a:rect l="l" t="t" r="r" b="b"/>
            <a:pathLst>
              <a:path w="7804324" h="8225902">
                <a:moveTo>
                  <a:pt x="0" y="0"/>
                </a:moveTo>
                <a:lnTo>
                  <a:pt x="7804324" y="0"/>
                </a:lnTo>
                <a:lnTo>
                  <a:pt x="7804324" y="8225902"/>
                </a:lnTo>
                <a:lnTo>
                  <a:pt x="0" y="822590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Freeform 4"/>
          <p:cNvSpPr/>
          <p:nvPr/>
        </p:nvSpPr>
        <p:spPr>
          <a:xfrm>
            <a:off x="5613645" y="-1517720"/>
            <a:ext cx="6491459" cy="5899113"/>
          </a:xfrm>
          <a:custGeom>
            <a:avLst/>
            <a:gdLst/>
            <a:ahLst/>
            <a:cxnLst/>
            <a:rect l="l" t="t" r="r" b="b"/>
            <a:pathLst>
              <a:path w="6491459" h="5899113">
                <a:moveTo>
                  <a:pt x="0" y="0"/>
                </a:moveTo>
                <a:lnTo>
                  <a:pt x="6491458" y="0"/>
                </a:lnTo>
                <a:lnTo>
                  <a:pt x="6491458" y="5899113"/>
                </a:lnTo>
                <a:lnTo>
                  <a:pt x="0" y="589911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5" name="Group 5"/>
          <p:cNvGrpSpPr/>
          <p:nvPr/>
        </p:nvGrpSpPr>
        <p:grpSpPr>
          <a:xfrm>
            <a:off x="6232114" y="6349092"/>
            <a:ext cx="11027186" cy="2719992"/>
            <a:chOff x="0" y="0"/>
            <a:chExt cx="14702915" cy="3626656"/>
          </a:xfrm>
        </p:grpSpPr>
        <p:sp>
          <p:nvSpPr>
            <p:cNvPr id="6" name="TextBox 6"/>
            <p:cNvSpPr txBox="1"/>
            <p:nvPr/>
          </p:nvSpPr>
          <p:spPr>
            <a:xfrm>
              <a:off x="0" y="-9525"/>
              <a:ext cx="14702915" cy="196016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r">
                <a:lnSpc>
                  <a:spcPts val="11519"/>
                </a:lnSpc>
              </a:pPr>
              <a:r>
                <a:rPr lang="en-US" sz="9600">
                  <a:solidFill>
                    <a:srgbClr val="FFFFFF"/>
                  </a:solidFill>
                  <a:latin typeface="Forum"/>
                  <a:ea typeface="Forum"/>
                  <a:cs typeface="Forum"/>
                  <a:sym typeface="Forum"/>
                </a:rPr>
                <a:t>THANK YOU!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2123822"/>
              <a:ext cx="14702915" cy="150283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r">
                <a:lnSpc>
                  <a:spcPts val="4549"/>
                </a:lnSpc>
              </a:pPr>
              <a:r>
                <a:rPr lang="en-US" sz="3499">
                  <a:solidFill>
                    <a:srgbClr val="FFFFFF"/>
                  </a:solidFill>
                  <a:latin typeface="TT Drugs"/>
                  <a:ea typeface="TT Drugs"/>
                  <a:cs typeface="TT Drugs"/>
                  <a:sym typeface="TT Drugs"/>
                </a:rPr>
                <a:t>Main.Cpp</a:t>
              </a:r>
            </a:p>
            <a:p>
              <a:pPr algn="r">
                <a:lnSpc>
                  <a:spcPts val="4549"/>
                </a:lnSpc>
              </a:pPr>
              <a:r>
                <a:rPr lang="en-US" sz="3499">
                  <a:solidFill>
                    <a:srgbClr val="FFFFFF"/>
                  </a:solidFill>
                  <a:latin typeface="TT Drugs"/>
                  <a:ea typeface="TT Drugs"/>
                  <a:cs typeface="TT Drugs"/>
                  <a:sym typeface="TT Drugs"/>
                </a:rPr>
                <a:t>main.cppdeanza@gmail.com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50">
        <p:fade/>
      </p:transition>
    </mc:Choice>
    <mc:Fallback>
      <p:transition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740</Words>
  <Application>Microsoft Office PowerPoint</Application>
  <PresentationFormat>Custom</PresentationFormat>
  <Paragraphs>89</Paragraphs>
  <Slides>25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31" baseType="lpstr">
      <vt:lpstr>TT Drugs</vt:lpstr>
      <vt:lpstr>TT Drugs Bold</vt:lpstr>
      <vt:lpstr>Calibri</vt:lpstr>
      <vt:lpstr>Forum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Spam Detector Model</dc:title>
  <cp:lastModifiedBy>Hoai Phong Nguyen</cp:lastModifiedBy>
  <cp:revision>6</cp:revision>
  <dcterms:created xsi:type="dcterms:W3CDTF">2006-08-16T00:00:00Z</dcterms:created>
  <dcterms:modified xsi:type="dcterms:W3CDTF">2026-10-06T07:33:48Z</dcterms:modified>
  <dc:identifier>DAHXNriqODA</dc:identifier>
</cp:coreProperties>
</file>