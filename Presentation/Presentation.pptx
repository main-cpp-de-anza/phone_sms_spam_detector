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58" r:id="rId3"/>
    <p:sldId id="259" r:id="rId4"/>
    <p:sldId id="260" r:id="rId5"/>
    <p:sldId id="261" r:id="rId6"/>
    <p:sldId id="263" r:id="rId7"/>
    <p:sldId id="264" r:id="rId8"/>
    <p:sldId id="265" r:id="rId9"/>
    <p:sldId id="266" r:id="rId10"/>
    <p:sldId id="267" r:id="rId11"/>
    <p:sldId id="268" r:id="rId12"/>
    <p:sldId id="272" r:id="rId13"/>
    <p:sldId id="273" r:id="rId14"/>
    <p:sldId id="271" r:id="rId15"/>
    <p:sldId id="274" r:id="rId16"/>
    <p:sldId id="275" r:id="rId17"/>
    <p:sldId id="276" r:id="rId18"/>
    <p:sldId id="277" r:id="rId19"/>
    <p:sldId id="278" r:id="rId20"/>
    <p:sldId id="280" r:id="rId21"/>
    <p:sldId id="279" r:id="rId22"/>
    <p:sldId id="282" r:id="rId23"/>
    <p:sldId id="281" r:id="rId24"/>
    <p:sldId id="283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51" autoAdjust="0"/>
    <p:restoredTop sz="94660"/>
  </p:normalViewPr>
  <p:slideViewPr>
    <p:cSldViewPr snapToGrid="0">
      <p:cViewPr varScale="1">
        <p:scale>
          <a:sx n="78" d="100"/>
          <a:sy n="78" d="100"/>
        </p:scale>
        <p:origin x="103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B97495-C66F-4D07-8109-EA34BF524B27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EBC4C5-707F-4375-BF84-14F510A07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0410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EBC4C5-707F-4375-BF84-14F510A07DF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6338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76AE3-9A3B-B258-CC35-F451D94F3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B81D6E-76BA-47EF-0081-DF6CD7379A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FB9F01-EA18-1F2C-3487-B0C4BC33EB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C43BCE-7717-5A27-62E9-C3F7995CC8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EBC4C5-707F-4375-BF84-14F510A07DF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8952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877F4-D33C-643B-BADD-F2A21A4F7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44F643-E9DF-9AF6-DA4F-49D54165DC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FA26EA-B668-6ED3-2150-D91AAC70EB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F24E0D-679C-FF6B-0EC6-33E1B3D8D7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EBC4C5-707F-4375-BF84-14F510A07DF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7700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4B224-2743-ADC1-F73D-8AA1AF309D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1B63AF-F84A-1D90-E38E-3B538D5405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080A38-021E-E3C3-5D3D-5D821A95F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DDCD2-BCFC-452D-8AF0-E4CBB1E90C30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C38D1E-1509-0FDF-0315-1F4ABBD0A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29F3FD-8E05-3FAF-1357-75E387677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209B8-C6DE-4371-80A1-63BAABDC2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6582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483BF-E8F3-1EB3-C788-F185E4771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54F531-476A-3CE8-C491-FA86BEB4F1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25785B-A79F-A400-C9CD-94D7A57A1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DDCD2-BCFC-452D-8AF0-E4CBB1E90C30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83916E-9B8B-0A07-06C8-EA732849E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3E255F-97BC-F99B-360B-93A19559D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209B8-C6DE-4371-80A1-63BAABDC2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459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31CB8-9730-62BE-58D2-1708F3F27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9851FC-CD13-649C-D200-0E557C6F9F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5F3E0A-E7AE-47EE-36DB-815FD1B86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DDCD2-BCFC-452D-8AF0-E4CBB1E90C30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7CEED9-DA0C-8864-68B2-DBBFCAF32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8E75D2-3D0D-08C1-C7C2-B30485185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209B8-C6DE-4371-80A1-63BAABDC2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2504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211F5-BE17-4F81-8B70-CB05CC89D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33518-39C3-1F35-535C-A3D13DB31F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815B8F-C8A7-D865-AEAF-4F4A1A856A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BDA912-2011-D2DC-84F1-9A3AEAD4D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DDCD2-BCFC-452D-8AF0-E4CBB1E90C30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3AC4FC-C107-0A3E-89C1-CA309721E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A32618-5D8F-BA70-BFC8-AA2A8ABDB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209B8-C6DE-4371-80A1-63BAABDC2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5587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D5989-63BA-20CB-E049-9A18EAF8C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9A349E-B217-0637-BD60-C52B6FAE4E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F69453-0C85-04B2-6DFC-208A798E66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C25C61-DF5B-739D-216C-8DF022B690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EBA087-FB74-7BE1-B4A6-455D8543FD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314DC6-A9FE-19AE-45FF-8A92D9AC3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DDCD2-BCFC-452D-8AF0-E4CBB1E90C30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4B36A0-40E6-8E1D-D7B4-F642EC7EC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ECB74E-5502-01EA-CFF8-8112337C2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209B8-C6DE-4371-80A1-63BAABDC2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277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35890-9E0A-144C-340D-9BB9E0B39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0F2004-5973-E5B2-5B85-2992E0380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DDCD2-BCFC-452D-8AF0-E4CBB1E90C30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C6896E-E6D6-470A-32DB-32E7C674C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1D4016-7B29-4D74-9FFF-5DD06EA67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209B8-C6DE-4371-80A1-63BAABDC2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279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B55765-B0DE-5767-2DEC-6D31C99A9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DDCD2-BCFC-452D-8AF0-E4CBB1E90C30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283C73-8FA7-5055-A3F7-48FDA0437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392E5D-7256-FA1D-191E-A406EA1B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209B8-C6DE-4371-80A1-63BAABDC2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4010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D5144-F34C-F78F-8F58-6D04CFEB7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722B35-E648-AA41-3F56-9867AFFD56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4D91BF-C261-0FCA-017B-BA947C5CC5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ED7CA6-0756-D076-0028-1B3E52F78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DDCD2-BCFC-452D-8AF0-E4CBB1E90C30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956D39-50C2-25EE-944F-C6196040C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215EE4-A7EA-A920-2F2F-80289B8B6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209B8-C6DE-4371-80A1-63BAABDC2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9412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1D53D-A20C-7A31-0797-8CE8DE0C0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292832-593A-17BF-7E57-DE66B5E274B2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3647A7-5B60-BAB9-1A86-D110995DAB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8C5AAE-8E33-6669-2A27-EE3314105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DDCD2-BCFC-452D-8AF0-E4CBB1E90C30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EF6678-B253-1916-4E4F-53192E07F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D2D88F-73F9-6B36-A757-59F75B882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209B8-C6DE-4371-80A1-63BAABDC2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606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4418A-39AC-F6E8-E310-FFA6CD587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D069EE-F8EA-135E-48FE-A831853187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602DD2-7F56-0AF1-DC67-23CECDBE2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DDCD2-BCFC-452D-8AF0-E4CBB1E90C30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1221B-0BA5-A1FA-D100-6AEE93FBE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406110-7018-E64F-14F7-B3F705166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209B8-C6DE-4371-80A1-63BAABDC2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050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6B3DAF-B023-C586-D30B-95609ED6AD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1BF360-23A7-A65C-C45F-8F4B169684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8202E5-A8EB-D428-C805-229851334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DDCD2-BCFC-452D-8AF0-E4CBB1E90C30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8F73C8-C8E9-4C56-CCB8-FD3EEBE52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910409-F77E-E37C-D48D-D1DC7DC99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209B8-C6DE-4371-80A1-63BAABDC2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640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7CF84C-95A9-5B6C-A888-A99F8A463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8F4354-11FC-BD9A-D3E0-4BC8CBAE79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0A1540-25F1-CDF6-85E4-B444972DC2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1DDCD2-BCFC-452D-8AF0-E4CBB1E90C30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F3AA4E-D015-03EB-D08A-1981B8E9B9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9C9F03-52B5-B21B-C88D-C27B905D9F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A209B8-C6DE-4371-80A1-63BAABDC2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44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0147F-16B8-0576-DBFC-BC8CEB9351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SPAM DETECTOR MODEL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7E9607-BC95-0090-8502-B9EC702F3E0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SPAM &amp; HAM: WHAT’S THE DIFFERENCE?</a:t>
            </a:r>
          </a:p>
        </p:txBody>
      </p:sp>
    </p:spTree>
    <p:extLst>
      <p:ext uri="{BB962C8B-B14F-4D97-AF65-F5344CB8AC3E}">
        <p14:creationId xmlns:p14="http://schemas.microsoft.com/office/powerpoint/2010/main" val="39247490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986DEC-70B7-F927-4853-499176B8C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87E9D-1B07-E754-F4CD-7CFE7E33B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SPAM &amp; HAM: What are they?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3DE13E-0F60-A2B9-EEA9-2A67CAD334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97398"/>
            <a:ext cx="10515600" cy="186320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/>
              <a:t>CONGRATULATION </a:t>
            </a:r>
            <a:r>
              <a:rPr lang="en-US" dirty="0" err="1"/>
              <a:t>Main.Cpp</a:t>
            </a:r>
            <a:r>
              <a:rPr lang="en-US" dirty="0"/>
              <a:t> member! You just won a 1000$ reward! REPLY NOW before your offer EXPIRES!</a:t>
            </a:r>
          </a:p>
        </p:txBody>
      </p:sp>
    </p:spTree>
    <p:extLst>
      <p:ext uri="{BB962C8B-B14F-4D97-AF65-F5344CB8AC3E}">
        <p14:creationId xmlns:p14="http://schemas.microsoft.com/office/powerpoint/2010/main" val="11333412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70458-5D3B-FA66-D2CC-4DEB250F5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E61C0-268C-3568-839B-61E30A894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SPAM &amp; HAM: What are they?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AE3D83-9E7A-A356-C32B-8B420EE881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97398"/>
            <a:ext cx="10515600" cy="186320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/>
              <a:t>CONGRATULATION </a:t>
            </a:r>
            <a:r>
              <a:rPr lang="en-US" dirty="0" err="1"/>
              <a:t>Main.Cpp</a:t>
            </a:r>
            <a:r>
              <a:rPr lang="en-US" dirty="0"/>
              <a:t> member! You just won a 1000$ reward! REPLY NOW before your offer EXPIRES!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1B52751-CD4B-89D9-CFF9-F4C1FCFA83C8}"/>
              </a:ext>
            </a:extLst>
          </p:cNvPr>
          <p:cNvSpPr txBox="1">
            <a:spLocks/>
          </p:cNvSpPr>
          <p:nvPr/>
        </p:nvSpPr>
        <p:spPr>
          <a:xfrm>
            <a:off x="838200" y="4959744"/>
            <a:ext cx="10515600" cy="9082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dirty="0"/>
              <a:t>SCAM!!! But why?   WHICH WORDS THROW YOU OFF???</a:t>
            </a:r>
          </a:p>
        </p:txBody>
      </p:sp>
    </p:spTree>
    <p:extLst>
      <p:ext uri="{BB962C8B-B14F-4D97-AF65-F5344CB8AC3E}">
        <p14:creationId xmlns:p14="http://schemas.microsoft.com/office/powerpoint/2010/main" val="30439645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AAA6D-7E1E-DF85-6031-BFD3F4155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C6B27-5275-A768-E954-373B1F78F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SPAM &amp; HAM: What are they?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230E84-FED5-DBE3-CF40-C4B1292BFA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97398"/>
            <a:ext cx="10515600" cy="186320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>
                <a:highlight>
                  <a:srgbClr val="FFFF00"/>
                </a:highlight>
              </a:rPr>
              <a:t>CONGRATULATION</a:t>
            </a:r>
            <a:r>
              <a:rPr lang="en-US" dirty="0"/>
              <a:t> </a:t>
            </a:r>
            <a:r>
              <a:rPr lang="en-US" dirty="0" err="1"/>
              <a:t>Main.Cpp</a:t>
            </a:r>
            <a:r>
              <a:rPr lang="en-US" dirty="0"/>
              <a:t> member! You just won a </a:t>
            </a:r>
            <a:r>
              <a:rPr lang="en-US" dirty="0">
                <a:highlight>
                  <a:srgbClr val="FFFF00"/>
                </a:highlight>
              </a:rPr>
              <a:t>1000$</a:t>
            </a:r>
            <a:r>
              <a:rPr lang="en-US" dirty="0"/>
              <a:t> reward! </a:t>
            </a:r>
            <a:r>
              <a:rPr lang="en-US" dirty="0">
                <a:highlight>
                  <a:srgbClr val="FFFF00"/>
                </a:highlight>
              </a:rPr>
              <a:t>REPLY NOW</a:t>
            </a:r>
            <a:r>
              <a:rPr lang="en-US" dirty="0"/>
              <a:t> before your offer </a:t>
            </a:r>
            <a:r>
              <a:rPr lang="en-US" dirty="0">
                <a:highlight>
                  <a:srgbClr val="FFFF00"/>
                </a:highlight>
              </a:rPr>
              <a:t>EXPIRES</a:t>
            </a:r>
            <a:r>
              <a:rPr lang="en-US" dirty="0"/>
              <a:t>!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265A52D-E3D5-09E2-955E-91FE1ED9123E}"/>
              </a:ext>
            </a:extLst>
          </p:cNvPr>
          <p:cNvSpPr txBox="1">
            <a:spLocks/>
          </p:cNvSpPr>
          <p:nvPr/>
        </p:nvSpPr>
        <p:spPr>
          <a:xfrm>
            <a:off x="838200" y="4959744"/>
            <a:ext cx="10515600" cy="9082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dirty="0"/>
              <a:t>SCAM!!! But why?   WHICH WORDS THROW YOU OFF???</a:t>
            </a:r>
          </a:p>
        </p:txBody>
      </p:sp>
    </p:spTree>
    <p:extLst>
      <p:ext uri="{BB962C8B-B14F-4D97-AF65-F5344CB8AC3E}">
        <p14:creationId xmlns:p14="http://schemas.microsoft.com/office/powerpoint/2010/main" val="3803838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97544-8F53-FCFC-309B-D9B1E7331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7DA0B-86B5-05B1-8BEC-AD3760CF017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RULE-BASED APPROACH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C0CE9C-852C-F71C-FB76-C17163C84E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SIMPLE BUT IS IT EFFECTIVE?</a:t>
            </a:r>
          </a:p>
        </p:txBody>
      </p:sp>
    </p:spTree>
    <p:extLst>
      <p:ext uri="{BB962C8B-B14F-4D97-AF65-F5344CB8AC3E}">
        <p14:creationId xmlns:p14="http://schemas.microsoft.com/office/powerpoint/2010/main" val="38231352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3BAC2-7528-CB8C-1415-4F0786335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E36A0-4A76-1BCF-A232-57C399B17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RULE-BASED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27257B-0B1E-AA59-0FEF-0D19E8CEB7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97398"/>
            <a:ext cx="10515600" cy="186320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CONGRATULATIONS on WINNING, daughter!!! I’m so proud of you. Imma bank you 1000$ IMMEDIATELY for dinner!!!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46437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2332A2-6A99-32A3-8864-3282B8F7D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27136-58CA-5676-79C6-6156EE354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RULE-BASED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10F0D3-DF94-654C-751A-99498D79C1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97398"/>
            <a:ext cx="10515600" cy="186320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CONGRATULATIONS on WINNING, daughter!!! I’m so proud of you. Imma bank you 1000$ IMMEDIATELY for dinner!!!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10E6507-F6E6-C017-C5A7-7F1AF915D4AC}"/>
              </a:ext>
            </a:extLst>
          </p:cNvPr>
          <p:cNvSpPr txBox="1">
            <a:spLocks/>
          </p:cNvSpPr>
          <p:nvPr/>
        </p:nvSpPr>
        <p:spPr>
          <a:xfrm>
            <a:off x="838200" y="4959744"/>
            <a:ext cx="10515600" cy="9082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dirty="0"/>
              <a:t>AW, such a supportive dad!!  BUT DOES THE MACHINE KNOW?</a:t>
            </a:r>
          </a:p>
        </p:txBody>
      </p:sp>
    </p:spTree>
    <p:extLst>
      <p:ext uri="{BB962C8B-B14F-4D97-AF65-F5344CB8AC3E}">
        <p14:creationId xmlns:p14="http://schemas.microsoft.com/office/powerpoint/2010/main" val="29618445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0111AD-EFD2-4EAA-5188-720242CC7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ECF7E-765F-9F5E-4AFB-523D9318D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RULE-BASED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8B96CB-7B1E-DB0A-867A-077292D449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97398"/>
            <a:ext cx="10515600" cy="186320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b="0" i="0" u="none" strike="noStrike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CONGRATULATIONS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on 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WINNING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daughter!!! I’m so proud of you. Imma bank you 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1000$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IMMEDIATELY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for dinner!!!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5FAB84D-1C64-7181-0D62-8EF87791AD81}"/>
              </a:ext>
            </a:extLst>
          </p:cNvPr>
          <p:cNvSpPr txBox="1">
            <a:spLocks/>
          </p:cNvSpPr>
          <p:nvPr/>
        </p:nvSpPr>
        <p:spPr>
          <a:xfrm>
            <a:off x="838200" y="4959744"/>
            <a:ext cx="10515600" cy="127390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dirty="0"/>
              <a:t>MACHINE:  SCAM!!!     (*Blocks dad immediately lol…)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dirty="0"/>
              <a:t>Daughter:    Loses her 1000$     :’&lt;&lt;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26566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044EA-FDA2-917C-0335-5A2FED3C9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C1432-066D-7D59-5747-BEC3D487C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RULE-BASED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339D2A-AECB-EF5E-C9CD-2328A7907D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97398"/>
            <a:ext cx="10515600" cy="356910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Tx/>
              <a:buChar char="-"/>
            </a:pPr>
            <a:r>
              <a:rPr lang="en-US" dirty="0"/>
              <a:t>Harmless message can contain “suspicious” words.</a:t>
            </a:r>
          </a:p>
          <a:p>
            <a:pPr>
              <a:lnSpc>
                <a:spcPct val="150000"/>
              </a:lnSpc>
              <a:buFontTx/>
              <a:buChar char="-"/>
            </a:pPr>
            <a:r>
              <a:rPr lang="en-US" dirty="0"/>
              <a:t>Scammers can bypass by avoiding those keywords.</a:t>
            </a:r>
          </a:p>
          <a:p>
            <a:pPr>
              <a:lnSpc>
                <a:spcPct val="150000"/>
              </a:lnSpc>
              <a:buFontTx/>
              <a:buChar char="-"/>
            </a:pPr>
            <a:r>
              <a:rPr lang="en-US" dirty="0"/>
              <a:t>Can’t update the number of words forever!</a:t>
            </a:r>
          </a:p>
        </p:txBody>
      </p:sp>
    </p:spTree>
    <p:extLst>
      <p:ext uri="{BB962C8B-B14F-4D97-AF65-F5344CB8AC3E}">
        <p14:creationId xmlns:p14="http://schemas.microsoft.com/office/powerpoint/2010/main" val="4216765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EDB04-E42E-1CD4-4664-2C2C119A6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489AB-89CB-04A1-709D-BCC73446C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RULE-BASED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5D1013-30CA-07B5-B53E-3032F929EF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97398"/>
            <a:ext cx="10515600" cy="227124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Tx/>
              <a:buChar char="-"/>
            </a:pPr>
            <a:r>
              <a:rPr lang="en-US" dirty="0"/>
              <a:t>Harmless message can contain “suspicious” words.</a:t>
            </a:r>
          </a:p>
          <a:p>
            <a:pPr>
              <a:lnSpc>
                <a:spcPct val="150000"/>
              </a:lnSpc>
              <a:buFontTx/>
              <a:buChar char="-"/>
            </a:pPr>
            <a:r>
              <a:rPr lang="en-US" dirty="0"/>
              <a:t>Scammers can bypass by avoiding those keywords.</a:t>
            </a:r>
          </a:p>
          <a:p>
            <a:pPr>
              <a:lnSpc>
                <a:spcPct val="150000"/>
              </a:lnSpc>
              <a:buFontTx/>
              <a:buChar char="-"/>
            </a:pPr>
            <a:r>
              <a:rPr lang="en-US" dirty="0"/>
              <a:t>Can’t update the number of words forever!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32D7B6A-15DB-C9A8-408C-3D07031A7DF9}"/>
              </a:ext>
            </a:extLst>
          </p:cNvPr>
          <p:cNvSpPr txBox="1">
            <a:spLocks/>
          </p:cNvSpPr>
          <p:nvPr/>
        </p:nvSpPr>
        <p:spPr>
          <a:xfrm>
            <a:off x="838200" y="4901386"/>
            <a:ext cx="10515600" cy="22712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dirty="0">
                <a:highlight>
                  <a:srgbClr val="FFFF00"/>
                </a:highlight>
              </a:rPr>
              <a:t>=&gt; WE NEED A BETTER APPROACH!!!</a:t>
            </a:r>
          </a:p>
        </p:txBody>
      </p:sp>
    </p:spTree>
    <p:extLst>
      <p:ext uri="{BB962C8B-B14F-4D97-AF65-F5344CB8AC3E}">
        <p14:creationId xmlns:p14="http://schemas.microsoft.com/office/powerpoint/2010/main" val="1599546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82212-E3D4-D93D-FF5E-42BE2EA9F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CB6A7-C81A-26EA-6E7A-4137804AA29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SPAM ASSASIN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3A3EF6-7F0F-D311-BB55-40F37D5E34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CAN WE GRADE MESSAGE???</a:t>
            </a:r>
          </a:p>
        </p:txBody>
      </p:sp>
    </p:spTree>
    <p:extLst>
      <p:ext uri="{BB962C8B-B14F-4D97-AF65-F5344CB8AC3E}">
        <p14:creationId xmlns:p14="http://schemas.microsoft.com/office/powerpoint/2010/main" val="15341817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CF2AB-8405-FB4C-A756-2A31D079D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D0F21-EA32-7020-F7CE-73BF020B0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SPAM ASSASIN: Score Important Words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7999F1-CCA9-C0B9-B157-F57B0EADC2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05002"/>
            <a:ext cx="10515600" cy="3047996"/>
          </a:xfrm>
        </p:spPr>
        <p:txBody>
          <a:bodyPr numCol="2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/>
              <a:t>CONGRATULATION: 2.0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WINNING: 1.0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[MONEY]: 1.5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RIGHT NOW: 1.25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LOL / AYO / HELU / Bye: -1.5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DINNER / LUNCH : -2.0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BABE / DAUGHTER / SON: -2.5</a:t>
            </a:r>
          </a:p>
          <a:p>
            <a:pPr marL="0" indent="0">
              <a:lnSpc>
                <a:spcPct val="150000"/>
              </a:lnSpc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39822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D57F6-6B73-BC9A-731B-0CD865F04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9B164-DCCF-D843-E23B-543E01AE9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SPAM ASSASIN: Score Important Words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1D7A8B-E81E-A5AD-BD9B-99862E12E5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05002"/>
            <a:ext cx="10515600" cy="3207772"/>
          </a:xfrm>
        </p:spPr>
        <p:txBody>
          <a:bodyPr numCol="2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/>
              <a:t>CONGRATULATION: 2.0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WINNING: 1.0</a:t>
            </a:r>
          </a:p>
          <a:p>
            <a:pPr marL="0" indent="0">
              <a:lnSpc>
                <a:spcPct val="150000"/>
              </a:lnSpc>
              <a:buNone/>
            </a:pPr>
            <a:endParaRPr lang="en-US" dirty="0"/>
          </a:p>
          <a:p>
            <a:pPr marL="0" indent="0">
              <a:lnSpc>
                <a:spcPct val="150000"/>
              </a:lnSpc>
              <a:buNone/>
            </a:pPr>
            <a:endParaRPr lang="en-US" dirty="0"/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LOL / AYO / HELU / Bye: -1.5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DINNER / LUNCH : -2.0</a:t>
            </a:r>
          </a:p>
          <a:p>
            <a:pPr marL="0" indent="0">
              <a:lnSpc>
                <a:spcPct val="150000"/>
              </a:lnSpc>
              <a:buNone/>
            </a:pP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B636F11-CF76-21C3-7552-FAAE59F7C2FD}"/>
              </a:ext>
            </a:extLst>
          </p:cNvPr>
          <p:cNvSpPr txBox="1">
            <a:spLocks/>
          </p:cNvSpPr>
          <p:nvPr/>
        </p:nvSpPr>
        <p:spPr>
          <a:xfrm>
            <a:off x="838200" y="4006777"/>
            <a:ext cx="11019503" cy="1244445"/>
          </a:xfrm>
          <a:prstGeom prst="rect">
            <a:avLst/>
          </a:prstGeom>
        </p:spPr>
        <p:txBody>
          <a:bodyPr vert="horz" lIns="91440" tIns="45720" rIns="91440" bIns="45720" numCol="1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dirty="0"/>
              <a:t> CALCULATING the score </a:t>
            </a:r>
            <a:r>
              <a:rPr lang="en-US" dirty="0">
                <a:highlight>
                  <a:srgbClr val="FFFF00"/>
                </a:highlight>
              </a:rPr>
              <a:t>IS AN ART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dirty="0"/>
              <a:t>(COMBINE complicated algorithms &amp; techniques )</a:t>
            </a:r>
          </a:p>
        </p:txBody>
      </p:sp>
    </p:spTree>
    <p:extLst>
      <p:ext uri="{BB962C8B-B14F-4D97-AF65-F5344CB8AC3E}">
        <p14:creationId xmlns:p14="http://schemas.microsoft.com/office/powerpoint/2010/main" val="38037496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BB5D6-8B40-E53C-E1E9-9F4D3B7C7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3A17A-BFFC-19E1-9460-7C4C62321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SPAM ASSASIN: Score &lt; 5  is good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2FFA2F-FA60-9C0C-7606-485E952F7C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97398"/>
            <a:ext cx="10754032" cy="1863203"/>
          </a:xfrm>
        </p:spPr>
        <p:txBody>
          <a:bodyPr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CONGRATULATIONS(2.5)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on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WINNING(1.0)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,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00FFFF"/>
                </a:highligh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daughter(-2.5)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!!! I’m so proud of you. Imma bank you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1000$(1.0)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IMMEDIATELY(0.5)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for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00FFFF"/>
                </a:highligh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dinner(-2.0)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!!!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89EC69B-4587-71F6-F115-7F5CE0B84346}"/>
              </a:ext>
            </a:extLst>
          </p:cNvPr>
          <p:cNvSpPr txBox="1">
            <a:spLocks/>
          </p:cNvSpPr>
          <p:nvPr/>
        </p:nvSpPr>
        <p:spPr>
          <a:xfrm>
            <a:off x="838200" y="4959744"/>
            <a:ext cx="10515600" cy="127390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dirty="0"/>
              <a:t>MACHINE: 2.5 + 1.0 …. - 2.0 = </a:t>
            </a:r>
            <a:r>
              <a:rPr lang="en-US" b="1" dirty="0"/>
              <a:t>0.5</a:t>
            </a:r>
            <a:r>
              <a:rPr lang="en-US" dirty="0"/>
              <a:t> 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</a:t>
            </a:r>
            <a:r>
              <a:rPr lang="en-US" b="1" dirty="0"/>
              <a:t>0. 5 &lt; 5  </a:t>
            </a:r>
            <a:r>
              <a:rPr lang="en-US" b="1" dirty="0">
                <a:sym typeface="Wingdings" panose="05000000000000000000" pitchFamily="2" charset="2"/>
              </a:rPr>
              <a:t> NOT SCAM</a:t>
            </a:r>
            <a:r>
              <a:rPr lang="en-US" b="1" dirty="0"/>
              <a:t>     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dirty="0"/>
              <a:t>(</a:t>
            </a:r>
            <a:r>
              <a:rPr lang="en-US" dirty="0" err="1"/>
              <a:t>Daugher</a:t>
            </a:r>
            <a:r>
              <a:rPr lang="en-US" dirty="0"/>
              <a:t> gets1000$ from Dad for dinner: YAYYYYY)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96216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D3F76-29E1-B18D-BFC6-46647CE6F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8D466-14C6-242D-60E9-6CB7810459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TF-IDF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0EA797-7FAF-7F77-EBB6-36980E5FECB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WHAT IF WE COULD TURN TEXT TO NUMBERS?</a:t>
            </a:r>
          </a:p>
        </p:txBody>
      </p:sp>
    </p:spTree>
    <p:extLst>
      <p:ext uri="{BB962C8B-B14F-4D97-AF65-F5344CB8AC3E}">
        <p14:creationId xmlns:p14="http://schemas.microsoft.com/office/powerpoint/2010/main" val="23377999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9FC80-7F12-9276-94C3-51B13D65E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9145D-1851-3073-CA02-A73178C7C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01516" cy="1325563"/>
          </a:xfrm>
        </p:spPr>
        <p:txBody>
          <a:bodyPr/>
          <a:lstStyle/>
          <a:p>
            <a:r>
              <a:rPr lang="en-US" dirty="0"/>
              <a:t>TF-IDF: </a:t>
            </a:r>
            <a:r>
              <a:rPr lang="en-US" sz="3600" dirty="0"/>
              <a:t>Term Frequency -  Inverse Document 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Frequency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251D5B1-2E15-FCB3-EACA-CCD45652592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905001"/>
                <a:ext cx="10515600" cy="4476133"/>
              </a:xfrm>
            </p:spPr>
            <p:txBody>
              <a:bodyPr numCol="1">
                <a:normAutofit/>
              </a:bodyPr>
              <a:lstStyle/>
              <a:p>
                <a:pPr>
                  <a:lnSpc>
                    <a:spcPct val="160000"/>
                  </a:lnSpc>
                </a:pPr>
                <a:r>
                  <a:rPr lang="en-US" dirty="0"/>
                  <a:t>TF(t, d) =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 </m:t>
                    </m:r>
                    <m:f>
                      <m:fPr>
                        <m:ctrlPr>
                          <a:rPr lang="en-US" i="0" dirty="0" smtClean="0"/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i="0" dirty="0" smtClean="0"/>
                          <m:t>Times appear in 1 document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i="0" dirty="0" smtClean="0"/>
                          <m:t>All words in that document</m:t>
                        </m:r>
                      </m:den>
                    </m:f>
                  </m:oMath>
                </a14:m>
                <a:endParaRPr lang="en-US" dirty="0"/>
              </a:p>
              <a:p>
                <a:pPr>
                  <a:lnSpc>
                    <a:spcPct val="160000"/>
                  </a:lnSpc>
                </a:pPr>
                <a:r>
                  <a:rPr lang="en-US" dirty="0"/>
                  <a:t>ID(t, D) =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dirty="0"/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1" dirty="0"/>
                          <m:t>Total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n</m:t>
                        </m:r>
                        <m:r>
                          <m:rPr>
                            <m:nor/>
                          </m:rPr>
                          <a:rPr lang="en-US" i="0" dirty="0" smtClean="0"/>
                          <m:t>umber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i="0" dirty="0" smtClean="0"/>
                          <m:t>of documents 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i="0" dirty="0" smtClean="0"/>
                          <m:t>Number of document with word ‘t’  </m:t>
                        </m:r>
                      </m:den>
                    </m:f>
                  </m:oMath>
                </a14:m>
                <a:endParaRPr lang="en-US" dirty="0"/>
              </a:p>
              <a:p>
                <a:pPr>
                  <a:lnSpc>
                    <a:spcPct val="160000"/>
                  </a:lnSpc>
                </a:pPr>
                <a:endParaRPr lang="en-US" dirty="0"/>
              </a:p>
              <a:p>
                <a:pPr>
                  <a:lnSpc>
                    <a:spcPct val="160000"/>
                  </a:lnSpc>
                </a:pPr>
                <a:r>
                  <a:rPr lang="en-US" dirty="0">
                    <a:highlight>
                      <a:srgbClr val="FFFF00"/>
                    </a:highlight>
                  </a:rPr>
                  <a:t>TF – IDF (t, d, D)  = TF(…) x IDF (…)</a:t>
                </a:r>
              </a:p>
              <a:p>
                <a:pPr marL="0" indent="0">
                  <a:lnSpc>
                    <a:spcPct val="160000"/>
                  </a:lnSpc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251D5B1-2E15-FCB3-EACA-CCD4565259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905001"/>
                <a:ext cx="10515600" cy="4476133"/>
              </a:xfrm>
              <a:blipFill>
                <a:blip r:embed="rId3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542047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EB7BFA-9A54-9438-EE24-4226EA3F8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1A9DC-7636-A22E-7A69-F9294E40F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01516" cy="1325563"/>
          </a:xfrm>
        </p:spPr>
        <p:txBody>
          <a:bodyPr/>
          <a:lstStyle/>
          <a:p>
            <a:r>
              <a:rPr lang="en-US" dirty="0"/>
              <a:t>TF-IDF: Turn texts into numbers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287C9E-3FEA-1C8E-2BDC-6110397DFB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05002"/>
            <a:ext cx="11206316" cy="2283540"/>
          </a:xfrm>
        </p:spPr>
        <p:txBody>
          <a:bodyPr numCol="1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/>
              <a:t>Document 1: “Claim the FREE prize now!”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Document 2: “You just won a FREE holiday to Hawaii”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Document 3: “Reply to this message to receive an </a:t>
            </a:r>
            <a:r>
              <a:rPr lang="en-US" dirty="0" err="1"/>
              <a:t>Iphone</a:t>
            </a:r>
            <a:r>
              <a:rPr lang="en-US" dirty="0"/>
              <a:t> 18 Pro max”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A5AE9FA-2D3F-1067-3332-DA91CCADDEE1}"/>
              </a:ext>
            </a:extLst>
          </p:cNvPr>
          <p:cNvSpPr txBox="1">
            <a:spLocks/>
          </p:cNvSpPr>
          <p:nvPr/>
        </p:nvSpPr>
        <p:spPr>
          <a:xfrm>
            <a:off x="838200" y="4209335"/>
            <a:ext cx="11206316" cy="2283540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95247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E0EDC-915B-A134-42A6-B75B367D9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9F93A-5EFD-24A6-75CB-36BEF99FD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01516" cy="1325563"/>
          </a:xfrm>
        </p:spPr>
        <p:txBody>
          <a:bodyPr/>
          <a:lstStyle/>
          <a:p>
            <a:r>
              <a:rPr lang="en-US" dirty="0"/>
              <a:t>TF-IDF: Turn texts into numbers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9003B1-1368-199E-E79D-C9787DB5FB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05002"/>
            <a:ext cx="11206316" cy="2283540"/>
          </a:xfrm>
        </p:spPr>
        <p:txBody>
          <a:bodyPr numCol="1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/>
              <a:t>Document 1: “Claim the </a:t>
            </a:r>
            <a:r>
              <a:rPr lang="en-US" dirty="0">
                <a:highlight>
                  <a:srgbClr val="FFFF00"/>
                </a:highlight>
              </a:rPr>
              <a:t>FREE</a:t>
            </a:r>
            <a:r>
              <a:rPr lang="en-US" dirty="0"/>
              <a:t> prize now!” </a:t>
            </a:r>
            <a:r>
              <a:rPr lang="en-US" dirty="0">
                <a:highlight>
                  <a:srgbClr val="FFFF00"/>
                </a:highlight>
              </a:rPr>
              <a:t>(5 words)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Document 2: “You just won a </a:t>
            </a:r>
            <a:r>
              <a:rPr lang="en-US" dirty="0">
                <a:highlight>
                  <a:srgbClr val="FFFF00"/>
                </a:highlight>
              </a:rPr>
              <a:t>FREE</a:t>
            </a:r>
            <a:r>
              <a:rPr lang="en-US" dirty="0"/>
              <a:t> holiday to Hawaii”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Document 3: “Reply to this message to receive an </a:t>
            </a:r>
            <a:r>
              <a:rPr lang="en-US" dirty="0" err="1"/>
              <a:t>Iphone</a:t>
            </a:r>
            <a:r>
              <a:rPr lang="en-US" dirty="0"/>
              <a:t> 18 Pro max”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3B0F6B2-BF14-4130-458E-42BA4E0FF865}"/>
              </a:ext>
            </a:extLst>
          </p:cNvPr>
          <p:cNvSpPr txBox="1">
            <a:spLocks/>
          </p:cNvSpPr>
          <p:nvPr/>
        </p:nvSpPr>
        <p:spPr>
          <a:xfrm>
            <a:off x="838200" y="4209335"/>
            <a:ext cx="11206316" cy="2283540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7DA9625A-7095-0DA8-8F62-EFB1DFDAE4B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4680154"/>
                <a:ext cx="11206316" cy="2283540"/>
              </a:xfrm>
              <a:prstGeom prst="rect">
                <a:avLst/>
              </a:prstGeom>
            </p:spPr>
            <p:txBody>
              <a:bodyPr vert="horz" lIns="91440" tIns="45720" rIns="91440" bIns="45720" numCol="1" rtlCol="0">
                <a:normAutofit fontScale="92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Font typeface="Arial" panose="020B0604020202020204" pitchFamily="34" charset="0"/>
                  <a:buNone/>
                </a:pPr>
                <a:r>
                  <a:rPr lang="en-US" dirty="0"/>
                  <a:t>TF (free, d1)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US" dirty="0">
                    <a:highlight>
                      <a:srgbClr val="FFFF00"/>
                    </a:highlight>
                  </a:rPr>
                  <a:t> </a:t>
                </a:r>
              </a:p>
              <a:p>
                <a:pPr marL="0" indent="0">
                  <a:lnSpc>
                    <a:spcPct val="150000"/>
                  </a:lnSpc>
                  <a:buFont typeface="Arial" panose="020B0604020202020204" pitchFamily="34" charset="0"/>
                  <a:buNone/>
                </a:pPr>
                <a:r>
                  <a:rPr lang="en-US" dirty="0"/>
                  <a:t>IDF (cat, D) =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log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dirty="0"/>
              </a:p>
              <a:p>
                <a:pPr marL="0" indent="0">
                  <a:lnSpc>
                    <a:spcPct val="150000"/>
                  </a:lnSpc>
                  <a:buFont typeface="Arial" panose="020B0604020202020204" pitchFamily="34" charset="0"/>
                  <a:buNone/>
                </a:pPr>
                <a:r>
                  <a:rPr lang="en-US" dirty="0"/>
                  <a:t>                </a:t>
                </a:r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7DA9625A-7095-0DA8-8F62-EFB1DFDAE4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680154"/>
                <a:ext cx="11206316" cy="2283540"/>
              </a:xfrm>
              <a:prstGeom prst="rect">
                <a:avLst/>
              </a:prstGeom>
              <a:blipFill>
                <a:blip r:embed="rId3"/>
                <a:stretch>
                  <a:fillRect l="-9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ight Brace 6">
            <a:extLst>
              <a:ext uri="{FF2B5EF4-FFF2-40B4-BE49-F238E27FC236}">
                <a16:creationId xmlns:a16="http://schemas.microsoft.com/office/drawing/2014/main" id="{B66EC66F-091E-2ABE-63DB-3E8585834047}"/>
              </a:ext>
            </a:extLst>
          </p:cNvPr>
          <p:cNvSpPr/>
          <p:nvPr/>
        </p:nvSpPr>
        <p:spPr>
          <a:xfrm>
            <a:off x="3824747" y="4802145"/>
            <a:ext cx="835742" cy="1527585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637B4CC-AF13-12A2-E54E-88F988C8D35B}"/>
                  </a:ext>
                </a:extLst>
              </p:cNvPr>
              <p:cNvSpPr txBox="1"/>
              <p:nvPr/>
            </p:nvSpPr>
            <p:spPr>
              <a:xfrm>
                <a:off x="4837471" y="5226223"/>
                <a:ext cx="6646606" cy="11035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0" dirty="0" smtClean="0"/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800" b="0" i="0" dirty="0" smtClean="0"/>
                          <m:t>TF – IDF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2800" b="0" i="0" dirty="0" smtClean="0"/>
                          <m:t>(free, d1, D)</m:t>
                        </m:r>
                      </m:sub>
                    </m:sSub>
                  </m:oMath>
                </a14:m>
                <a:r>
                  <a:rPr lang="en-US" sz="2600" b="0" dirty="0"/>
                  <a:t> </a:t>
                </a:r>
                <a:r>
                  <a:rPr lang="en-US" sz="2400" b="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US" sz="2800" b="0" dirty="0"/>
                  <a:t>  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log</m:t>
                    </m:r>
                    <m:f>
                      <m:f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600" b="0" dirty="0"/>
                  <a:t> = </a:t>
                </a:r>
                <a:r>
                  <a:rPr lang="en-US" sz="2600" b="0" dirty="0">
                    <a:highlight>
                      <a:srgbClr val="FFFF00"/>
                    </a:highlight>
                  </a:rPr>
                  <a:t>0.04 </a:t>
                </a:r>
                <a:br>
                  <a:rPr lang="en-US" sz="2600" b="0" dirty="0">
                    <a:highlight>
                      <a:srgbClr val="FFFF00"/>
                    </a:highlight>
                  </a:rPr>
                </a:br>
                <a:endParaRPr lang="en-US" sz="2600" dirty="0">
                  <a:highlight>
                    <a:srgbClr val="FFFF00"/>
                  </a:highlight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637B4CC-AF13-12A2-E54E-88F988C8D3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7471" y="5226223"/>
                <a:ext cx="6646606" cy="110350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778924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116121F-DA16-BBCD-3F92-C4E751A490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199" y="1825625"/>
            <a:ext cx="5643716" cy="4365802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323B19C-30EA-E87F-BA63-DC22E414A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TF-IDF: Turn texts into numbers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F1C7E3-6AE8-CA23-23D0-8DAA6C4EC9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674806" cy="4351338"/>
          </a:xfrm>
          <a:ln w="38100">
            <a:solidFill>
              <a:schemeClr val="tx1"/>
            </a:solidFill>
          </a:ln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sz="2400" dirty="0"/>
              <a:t>Congratulations </a:t>
            </a:r>
            <a:r>
              <a:rPr lang="en-US" sz="2400" dirty="0" err="1"/>
              <a:t>Main.Cpp</a:t>
            </a:r>
            <a:r>
              <a:rPr lang="en-US" sz="2400" dirty="0"/>
              <a:t> member! You’ve been selected for an exclusive coding reward! Claim your free $100 tech gift card today before your offer expires! Click here now to secure your free prize</a:t>
            </a:r>
            <a:endParaRPr lang="en-US" sz="2400" b="0" dirty="0">
              <a:effectLst/>
            </a:endParaRP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B4B92307-8EBE-5A10-8A5D-F7CC9BC4AD63}"/>
              </a:ext>
            </a:extLst>
          </p:cNvPr>
          <p:cNvSpPr/>
          <p:nvPr/>
        </p:nvSpPr>
        <p:spPr>
          <a:xfrm>
            <a:off x="4645741" y="3542942"/>
            <a:ext cx="1012723" cy="353961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8196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E43CD-9C49-E6CE-9A07-BE76A164E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9B8A1-9816-7305-CCDD-55880AF9B5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MACHINE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2A44F2-8C78-EE42-1F09-FB1699E7540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ALGORITHMS THAT “LEARN” PATTERNS FROM DATA</a:t>
            </a:r>
          </a:p>
        </p:txBody>
      </p:sp>
    </p:spTree>
    <p:extLst>
      <p:ext uri="{BB962C8B-B14F-4D97-AF65-F5344CB8AC3E}">
        <p14:creationId xmlns:p14="http://schemas.microsoft.com/office/powerpoint/2010/main" val="2243131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FBD9C8-50F7-D4AA-F75B-44777D41D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6DEA0-CC7C-E54C-DDC0-1B1F7A44D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Machine Learning is used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3175404-EDDC-0799-E40C-31BCB19874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989291"/>
          </a:xfrm>
        </p:spPr>
        <p:txBody>
          <a:bodyPr/>
          <a:lstStyle/>
          <a:p>
            <a:r>
              <a:rPr lang="en-US" dirty="0"/>
              <a:t>TF – IDF converts text to numbers.</a:t>
            </a:r>
          </a:p>
          <a:p>
            <a:r>
              <a:rPr lang="en-US" dirty="0"/>
              <a:t>Huge amount of data numbers gives away patterns.</a:t>
            </a:r>
          </a:p>
          <a:p>
            <a:r>
              <a:rPr lang="en-US" dirty="0"/>
              <a:t>ML Algorithms </a:t>
            </a:r>
            <a:r>
              <a:rPr lang="en-US" dirty="0">
                <a:highlight>
                  <a:srgbClr val="FFFF00"/>
                </a:highlight>
              </a:rPr>
              <a:t>ANALYZE &amp; LEARN</a:t>
            </a:r>
            <a:r>
              <a:rPr lang="en-US" dirty="0"/>
              <a:t> patterns of </a:t>
            </a:r>
            <a:r>
              <a:rPr lang="en-US" dirty="0">
                <a:highlight>
                  <a:srgbClr val="FFFF00"/>
                </a:highlight>
              </a:rPr>
              <a:t>HAM &amp; SPAM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8" name="Picture 7" descr="K-Nearest Neighbors (KNN) Demystified: How Computers Use “Neighbors” to  Learn | by Alok Kushwaha | Python in Plain English">
            <a:extLst>
              <a:ext uri="{FF2B5EF4-FFF2-40B4-BE49-F238E27FC236}">
                <a16:creationId xmlns:a16="http://schemas.microsoft.com/office/drawing/2014/main" id="{44A55C73-9E33-D45A-D2AD-81CD4142D8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3300" y="4572000"/>
            <a:ext cx="3445399" cy="1809135"/>
          </a:xfrm>
          <a:prstGeom prst="rect">
            <a:avLst/>
          </a:prstGeom>
        </p:spPr>
      </p:pic>
      <p:pic>
        <p:nvPicPr>
          <p:cNvPr id="10" name="Picture 9" descr="Principles and Techniques of Data Science - 19 Logistic Regression II">
            <a:extLst>
              <a:ext uri="{FF2B5EF4-FFF2-40B4-BE49-F238E27FC236}">
                <a16:creationId xmlns:a16="http://schemas.microsoft.com/office/drawing/2014/main" id="{0A6F0EB6-5D0D-FA37-CE63-554B4688B8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520789"/>
            <a:ext cx="3356259" cy="2172929"/>
          </a:xfrm>
          <a:prstGeom prst="rect">
            <a:avLst/>
          </a:prstGeom>
        </p:spPr>
      </p:pic>
      <p:pic>
        <p:nvPicPr>
          <p:cNvPr id="12" name="Picture 11" descr="Linear Discriminant Analysis of the dataset. The decision boundaries of...  | Download Scientific Diagram">
            <a:extLst>
              <a:ext uri="{FF2B5EF4-FFF2-40B4-BE49-F238E27FC236}">
                <a16:creationId xmlns:a16="http://schemas.microsoft.com/office/drawing/2014/main" id="{7E1A9581-BF75-D1AE-C996-BCD7FBB842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7242" y="4278159"/>
            <a:ext cx="3445399" cy="2214716"/>
          </a:xfrm>
          <a:prstGeom prst="rect">
            <a:avLst/>
          </a:prstGeom>
        </p:spPr>
      </p:pic>
      <p:sp>
        <p:nvSpPr>
          <p:cNvPr id="13" name="Content Placeholder 4">
            <a:extLst>
              <a:ext uri="{FF2B5EF4-FFF2-40B4-BE49-F238E27FC236}">
                <a16:creationId xmlns:a16="http://schemas.microsoft.com/office/drawing/2014/main" id="{9F0389AF-A1B9-76FA-B4A7-EC31CA31E9A3}"/>
              </a:ext>
            </a:extLst>
          </p:cNvPr>
          <p:cNvSpPr txBox="1">
            <a:spLocks/>
          </p:cNvSpPr>
          <p:nvPr/>
        </p:nvSpPr>
        <p:spPr>
          <a:xfrm>
            <a:off x="838200" y="3952975"/>
            <a:ext cx="10515600" cy="5678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*Illustrative images</a:t>
            </a:r>
          </a:p>
        </p:txBody>
      </p:sp>
    </p:spTree>
    <p:extLst>
      <p:ext uri="{BB962C8B-B14F-4D97-AF65-F5344CB8AC3E}">
        <p14:creationId xmlns:p14="http://schemas.microsoft.com/office/powerpoint/2010/main" val="11466587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3BFD5F-2F76-4649-75DF-76DC416E5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29CD2-11F9-19AB-2324-D636A04966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Sample ML Model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99A982-DF7D-AD31-D55D-ED4277A50A7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EVERYTHING TOGETHER!!! HEHEHE</a:t>
            </a:r>
          </a:p>
        </p:txBody>
      </p:sp>
    </p:spTree>
    <p:extLst>
      <p:ext uri="{BB962C8B-B14F-4D97-AF65-F5344CB8AC3E}">
        <p14:creationId xmlns:p14="http://schemas.microsoft.com/office/powerpoint/2010/main" val="1973136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18FFE-9EDE-17C5-C927-D845324F0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879E7-B07A-9FCB-5595-3CF1034C9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98638"/>
            <a:ext cx="10515600" cy="1325563"/>
          </a:xfrm>
        </p:spPr>
        <p:txBody>
          <a:bodyPr/>
          <a:lstStyle/>
          <a:p>
            <a:r>
              <a:rPr lang="en-US" dirty="0"/>
              <a:t>SAMPLE’S DATASET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BBC6E56-BE8C-309F-A9AE-28353477A7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7923"/>
            <a:ext cx="11166988" cy="1603374"/>
          </a:xfrm>
        </p:spPr>
        <p:txBody>
          <a:bodyPr numCol="2" spcCol="457200">
            <a:normAutofit/>
          </a:bodyPr>
          <a:lstStyle/>
          <a:p>
            <a:r>
              <a:rPr lang="en-US" dirty="0"/>
              <a:t>UCI SMS Spam Collection</a:t>
            </a:r>
          </a:p>
          <a:p>
            <a:r>
              <a:rPr lang="en-US" dirty="0"/>
              <a:t>Mendeley SMS Phishing Dataset</a:t>
            </a:r>
          </a:p>
          <a:p>
            <a:r>
              <a:rPr lang="en-US" dirty="0" err="1"/>
              <a:t>Smishtank</a:t>
            </a:r>
            <a:r>
              <a:rPr lang="en-US" dirty="0"/>
              <a:t> Phishing Corpus  </a:t>
            </a:r>
          </a:p>
          <a:p>
            <a:r>
              <a:rPr lang="en-US" dirty="0"/>
              <a:t>IMC 2025 ACM Smishing Dataset</a:t>
            </a:r>
          </a:p>
          <a:p>
            <a:r>
              <a:rPr lang="en-US" dirty="0"/>
              <a:t>NUS SMS Corpus</a:t>
            </a:r>
          </a:p>
          <a:p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6FF089A-B325-7950-D3E6-95D2E9EA4EB5}"/>
              </a:ext>
            </a:extLst>
          </p:cNvPr>
          <p:cNvSpPr txBox="1">
            <a:spLocks/>
          </p:cNvSpPr>
          <p:nvPr/>
        </p:nvSpPr>
        <p:spPr>
          <a:xfrm>
            <a:off x="838200" y="315129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EVALUATION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AE34039-BBE8-1535-4804-15664BA374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201021"/>
            <a:ext cx="9378745" cy="2209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7611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32A01-1C71-439A-840D-2901A143B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71CA-1EFB-029E-27C5-1768087E0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98638"/>
            <a:ext cx="10515600" cy="1325563"/>
          </a:xfrm>
        </p:spPr>
        <p:txBody>
          <a:bodyPr/>
          <a:lstStyle/>
          <a:p>
            <a:r>
              <a:rPr lang="en-US" dirty="0"/>
              <a:t>SAMPLE’S DEMO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1610834-E821-7F66-0D6E-6EF3EC3A6F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4201"/>
            <a:ext cx="10763865" cy="3818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9899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748</Words>
  <Application>Microsoft Office PowerPoint</Application>
  <PresentationFormat>Widescreen</PresentationFormat>
  <Paragraphs>94</Paragraphs>
  <Slides>24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Aptos</vt:lpstr>
      <vt:lpstr>Aptos Display</vt:lpstr>
      <vt:lpstr>Arial</vt:lpstr>
      <vt:lpstr>Cambria Math</vt:lpstr>
      <vt:lpstr>Wingdings</vt:lpstr>
      <vt:lpstr>Office Theme</vt:lpstr>
      <vt:lpstr>SPAM DETECTOR MODEL</vt:lpstr>
      <vt:lpstr>SPAM &amp; HAM: What are they?</vt:lpstr>
      <vt:lpstr>SPAM &amp; HAM: What are they?</vt:lpstr>
      <vt:lpstr>SPAM &amp; HAM: What are they?</vt:lpstr>
      <vt:lpstr>RULE-BASED APPROACH</vt:lpstr>
      <vt:lpstr>RULE-BASED APPROACH</vt:lpstr>
      <vt:lpstr>RULE-BASED APPROACH</vt:lpstr>
      <vt:lpstr>RULE-BASED APPROACH</vt:lpstr>
      <vt:lpstr>RULE-BASED APPROACH</vt:lpstr>
      <vt:lpstr>RULE-BASED APPROACH</vt:lpstr>
      <vt:lpstr>SPAM ASSASIN</vt:lpstr>
      <vt:lpstr>SPAM ASSASIN: Score Important Words</vt:lpstr>
      <vt:lpstr>SPAM ASSASIN: Score Important Words</vt:lpstr>
      <vt:lpstr>SPAM ASSASIN: Score &lt; 5  is good</vt:lpstr>
      <vt:lpstr>TF-IDF </vt:lpstr>
      <vt:lpstr>TF-IDF: Term Frequency -  Inverse Document Frequency</vt:lpstr>
      <vt:lpstr>TF-IDF: Turn texts into numbers</vt:lpstr>
      <vt:lpstr>TF-IDF: Turn texts into numbers</vt:lpstr>
      <vt:lpstr>TF-IDF: Turn texts into numbers</vt:lpstr>
      <vt:lpstr>MACHINE LEARNING</vt:lpstr>
      <vt:lpstr>How Machine Learning is used</vt:lpstr>
      <vt:lpstr>Sample ML Model</vt:lpstr>
      <vt:lpstr>SAMPLE’S DATASET</vt:lpstr>
      <vt:lpstr>SAMPLE’S DEMO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Hoai Phong Nguyen</dc:creator>
  <cp:lastModifiedBy>Hoai Phong Nguyen</cp:lastModifiedBy>
  <cp:revision>12</cp:revision>
  <dcterms:created xsi:type="dcterms:W3CDTF">2026-10-06T03:56:23Z</dcterms:created>
  <dcterms:modified xsi:type="dcterms:W3CDTF">2026-10-06T06:04:19Z</dcterms:modified>
</cp:coreProperties>
</file>